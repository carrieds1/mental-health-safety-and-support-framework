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FFCFA6-6E79-40EC-83C4-F52110652139}">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7" autoAdjust="0"/>
    <p:restoredTop sz="94660"/>
  </p:normalViewPr>
  <p:slideViewPr>
    <p:cSldViewPr snapToGrid="0">
      <p:cViewPr varScale="1">
        <p:scale>
          <a:sx n="102" d="100"/>
          <a:sy n="102" d="100"/>
        </p:scale>
        <p:origin x="6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62D25-B918-47B2-0854-8B1D6C0A44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67B92C2-54DC-0E45-E218-F5DA150D1C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20BE1DC-4091-80FB-E1EC-9883EE93A45D}"/>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5" name="Footer Placeholder 4">
            <a:extLst>
              <a:ext uri="{FF2B5EF4-FFF2-40B4-BE49-F238E27FC236}">
                <a16:creationId xmlns:a16="http://schemas.microsoft.com/office/drawing/2014/main" id="{51384D63-8B1E-BA2B-EE33-8B168736656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717663-36CD-4636-C4D3-5546BB7A6C35}"/>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253682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D94F0-2D74-06D8-9E08-A30B3494250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123FC5F-B1BA-5AAD-66B3-777F5B89FE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7138F48-849F-5742-1588-6E7415E1343C}"/>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5" name="Footer Placeholder 4">
            <a:extLst>
              <a:ext uri="{FF2B5EF4-FFF2-40B4-BE49-F238E27FC236}">
                <a16:creationId xmlns:a16="http://schemas.microsoft.com/office/drawing/2014/main" id="{31D1485E-5919-C7DC-2CC6-E8EBFCFDBF0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8D29DD-66FB-8DDB-625A-6501A4684328}"/>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1676139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0E56-E744-3CE4-182D-A53C507085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AC63ECD-CF7C-942F-5C7A-7BE03558DD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2BE829-BFF0-9D73-44EE-4D169A877554}"/>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5" name="Footer Placeholder 4">
            <a:extLst>
              <a:ext uri="{FF2B5EF4-FFF2-40B4-BE49-F238E27FC236}">
                <a16:creationId xmlns:a16="http://schemas.microsoft.com/office/drawing/2014/main" id="{D0C8B2FB-814A-9D00-11B8-735967E02AE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8D327CB-00A6-9E7A-7582-DE3D82F42B63}"/>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3435420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5587-83FE-6287-2F9A-60CD61F1E18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1A2A39B-EE86-3CD8-AEA0-ADA04784A1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1AD5C9E-7C16-5EC0-6F44-A2C35B0FA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1AB77FA-3A4A-3ED7-8440-67AC8D52EF1C}"/>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6" name="Footer Placeholder 5">
            <a:extLst>
              <a:ext uri="{FF2B5EF4-FFF2-40B4-BE49-F238E27FC236}">
                <a16:creationId xmlns:a16="http://schemas.microsoft.com/office/drawing/2014/main" id="{D4EF7E48-16DB-EC62-9D7C-B4D5BFFEB8C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A5F5B58-25D4-8880-D207-ADFA32D152F9}"/>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2230862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79C7-AF67-FEF3-1EF9-EF255F82D04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976F37A-0E28-63E8-ECE7-667887266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A177DB-DE46-8C27-3A78-64604D7C45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8CA5C5F-1023-A48A-16D9-D1713F28DF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1C1384-4176-F847-84F1-BE00CADC0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B37DE00-CDF3-47E3-36A5-D221CEC451F7}"/>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8" name="Footer Placeholder 7">
            <a:extLst>
              <a:ext uri="{FF2B5EF4-FFF2-40B4-BE49-F238E27FC236}">
                <a16:creationId xmlns:a16="http://schemas.microsoft.com/office/drawing/2014/main" id="{9CF6D14C-CAAF-7A60-5B04-27767A73430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80E991B-F8CC-45EB-1E00-5551DAD168CA}"/>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4269036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5AE3-D268-DD51-511B-A39EE5EA997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903B003-6C7B-7BE3-8841-CFB79D6C694D}"/>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4" name="Footer Placeholder 3">
            <a:extLst>
              <a:ext uri="{FF2B5EF4-FFF2-40B4-BE49-F238E27FC236}">
                <a16:creationId xmlns:a16="http://schemas.microsoft.com/office/drawing/2014/main" id="{F63AD5B0-22F4-4245-7A60-928021E2AD5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57B52B4-F99E-FEE5-461E-112593889A9E}"/>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1150185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5CA9C4-DB9D-3AE7-0985-67ED83E2708C}"/>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3" name="Footer Placeholder 2">
            <a:extLst>
              <a:ext uri="{FF2B5EF4-FFF2-40B4-BE49-F238E27FC236}">
                <a16:creationId xmlns:a16="http://schemas.microsoft.com/office/drawing/2014/main" id="{B0091ABE-C552-8EDE-5ACB-C8B73FEBD98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D030795-BF2B-011D-EB0E-03A169FF8820}"/>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901878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A81-4106-633B-EA01-662CB3123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9D4A21D-5A8E-67BF-5F36-01B152E1DB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A664388-BA5E-7D0A-E656-6503C3F0B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BAB5EB-A70D-7F86-9BCF-DE439E1F3ED3}"/>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6" name="Footer Placeholder 5">
            <a:extLst>
              <a:ext uri="{FF2B5EF4-FFF2-40B4-BE49-F238E27FC236}">
                <a16:creationId xmlns:a16="http://schemas.microsoft.com/office/drawing/2014/main" id="{955F390D-D667-1A7E-3835-FF43618045C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744B444-34CB-999D-EFB9-9A777F39D680}"/>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1085202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BE5A-60C9-4D31-1D0C-9F3517E038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174549A9-2D17-CE6E-A2A5-29868EDEF0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B1DC9D8-29E1-3EFD-B662-E47B309B9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C94EB5-0139-4EE6-4AA8-0778C2BCBDFC}"/>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6" name="Footer Placeholder 5">
            <a:extLst>
              <a:ext uri="{FF2B5EF4-FFF2-40B4-BE49-F238E27FC236}">
                <a16:creationId xmlns:a16="http://schemas.microsoft.com/office/drawing/2014/main" id="{559E7816-E0D2-56C0-9ACD-F8173D4258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C086764-CBF3-B1DE-3832-66E1D52F69EE}"/>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2157972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2C8B-8B42-26A5-31FC-01DB71C32AA8}"/>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A673630-583F-1917-D8FF-8B5AFF021C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35F8EFD-1928-CFF1-9894-7DE039925E06}"/>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5" name="Footer Placeholder 4">
            <a:extLst>
              <a:ext uri="{FF2B5EF4-FFF2-40B4-BE49-F238E27FC236}">
                <a16:creationId xmlns:a16="http://schemas.microsoft.com/office/drawing/2014/main" id="{E491EEE1-EA0F-1565-11D9-C3A8A9E081A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297D224-DF95-988C-1BC2-240B8BE01648}"/>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414923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395B0B-DF72-B0DD-59CD-2262452724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B36909-A74B-CEBC-EDC5-3B4CB9E60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9AE68E-8236-0939-1714-CD2A5A7FA60C}"/>
              </a:ext>
            </a:extLst>
          </p:cNvPr>
          <p:cNvSpPr>
            <a:spLocks noGrp="1"/>
          </p:cNvSpPr>
          <p:nvPr>
            <p:ph type="dt" sz="half" idx="10"/>
          </p:nvPr>
        </p:nvSpPr>
        <p:spPr/>
        <p:txBody>
          <a:bodyPr/>
          <a:lstStyle/>
          <a:p>
            <a:fld id="{0FE659B2-5878-49C1-A6BE-869D26C375FE}" type="datetimeFigureOut">
              <a:rPr lang="en-AU" smtClean="0"/>
              <a:t>13/05/2026</a:t>
            </a:fld>
            <a:endParaRPr lang="en-AU"/>
          </a:p>
        </p:txBody>
      </p:sp>
      <p:sp>
        <p:nvSpPr>
          <p:cNvPr id="5" name="Footer Placeholder 4">
            <a:extLst>
              <a:ext uri="{FF2B5EF4-FFF2-40B4-BE49-F238E27FC236}">
                <a16:creationId xmlns:a16="http://schemas.microsoft.com/office/drawing/2014/main" id="{69A053F0-CE37-D78A-DC53-2B977113635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97B8980-5B44-59B5-3A69-0E20E7CEF626}"/>
              </a:ext>
            </a:extLst>
          </p:cNvPr>
          <p:cNvSpPr>
            <a:spLocks noGrp="1"/>
          </p:cNvSpPr>
          <p:nvPr>
            <p:ph type="sldNum" sz="quarter" idx="12"/>
          </p:nvPr>
        </p:nvSpPr>
        <p:spPr/>
        <p:txBody>
          <a:bodyPr/>
          <a:lstStyle/>
          <a:p>
            <a:fld id="{B44AF94B-978E-4CC5-B844-9D691C309EE3}" type="slidenum">
              <a:rPr lang="en-AU" smtClean="0"/>
              <a:t>‹#›</a:t>
            </a:fld>
            <a:endParaRPr lang="en-AU"/>
          </a:p>
        </p:txBody>
      </p:sp>
    </p:spTree>
    <p:extLst>
      <p:ext uri="{BB962C8B-B14F-4D97-AF65-F5344CB8AC3E}">
        <p14:creationId xmlns:p14="http://schemas.microsoft.com/office/powerpoint/2010/main" val="944915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E28CAF-E1D4-322F-39B0-909E45E479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8E35DDF-C019-89DD-78C1-00A64E3E9D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83BADDB-F0EB-C547-8841-CD40CC148F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E659B2-5878-49C1-A6BE-869D26C375FE}" type="datetimeFigureOut">
              <a:rPr lang="en-AU" smtClean="0"/>
              <a:t>13/05/2026</a:t>
            </a:fld>
            <a:endParaRPr lang="en-AU"/>
          </a:p>
        </p:txBody>
      </p:sp>
      <p:sp>
        <p:nvSpPr>
          <p:cNvPr id="5" name="Footer Placeholder 4">
            <a:extLst>
              <a:ext uri="{FF2B5EF4-FFF2-40B4-BE49-F238E27FC236}">
                <a16:creationId xmlns:a16="http://schemas.microsoft.com/office/drawing/2014/main" id="{2F14B1CC-4533-361A-2932-D3E1DBBFFD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48EB9A12-5CCD-6ACD-D1D4-5F9D875E9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4AF94B-978E-4CC5-B844-9D691C309EE3}" type="slidenum">
              <a:rPr lang="en-AU" smtClean="0"/>
              <a:t>‹#›</a:t>
            </a:fld>
            <a:endParaRPr lang="en-AU"/>
          </a:p>
        </p:txBody>
      </p:sp>
    </p:spTree>
    <p:extLst>
      <p:ext uri="{BB962C8B-B14F-4D97-AF65-F5344CB8AC3E}">
        <p14:creationId xmlns:p14="http://schemas.microsoft.com/office/powerpoint/2010/main" val="2785453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7F35B8D-1EFD-9EB5-89CA-6AF49CBD5873}"/>
              </a:ext>
            </a:extLst>
          </p:cNvPr>
          <p:cNvSpPr>
            <a:spLocks noGrp="1"/>
          </p:cNvSpPr>
          <p:nvPr>
            <p:ph type="ctrTitle"/>
          </p:nvPr>
        </p:nvSpPr>
        <p:spPr>
          <a:xfrm>
            <a:off x="1524000" y="929452"/>
            <a:ext cx="9144000" cy="2526738"/>
          </a:xfrm>
        </p:spPr>
        <p:txBody>
          <a:bodyPr>
            <a:normAutofit/>
          </a:bodyPr>
          <a:lstStyle/>
          <a:p>
            <a:r>
              <a:rPr lang="en-AU" sz="6600">
                <a:solidFill>
                  <a:srgbClr val="FFFFFF"/>
                </a:solidFill>
              </a:rPr>
              <a:t>Interventions</a:t>
            </a:r>
          </a:p>
        </p:txBody>
      </p:sp>
      <p:sp>
        <p:nvSpPr>
          <p:cNvPr id="3" name="Subtitle 2">
            <a:extLst>
              <a:ext uri="{FF2B5EF4-FFF2-40B4-BE49-F238E27FC236}">
                <a16:creationId xmlns:a16="http://schemas.microsoft.com/office/drawing/2014/main" id="{B1299676-7684-5A53-BA91-3447D40F5769}"/>
              </a:ext>
            </a:extLst>
          </p:cNvPr>
          <p:cNvSpPr>
            <a:spLocks noGrp="1"/>
          </p:cNvSpPr>
          <p:nvPr>
            <p:ph type="subTitle" idx="1"/>
          </p:nvPr>
        </p:nvSpPr>
        <p:spPr>
          <a:xfrm>
            <a:off x="1524000" y="3695230"/>
            <a:ext cx="9144000" cy="1626541"/>
          </a:xfrm>
        </p:spPr>
        <p:txBody>
          <a:bodyPr>
            <a:normAutofit/>
          </a:bodyPr>
          <a:lstStyle/>
          <a:p>
            <a:r>
              <a:rPr lang="en-AU">
                <a:solidFill>
                  <a:srgbClr val="FFFFFF"/>
                </a:solidFill>
              </a:rPr>
              <a:t>Like the others this is a first draft designed for information not presentation and being better formatted than a word doc!</a:t>
            </a:r>
          </a:p>
        </p:txBody>
      </p:sp>
      <p:sp>
        <p:nvSpPr>
          <p:cNvPr id="12"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5665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342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6D3819-0861-228F-FF08-2362ABA246C3}"/>
              </a:ext>
            </a:extLst>
          </p:cNvPr>
          <p:cNvSpPr>
            <a:spLocks noGrp="1"/>
          </p:cNvSpPr>
          <p:nvPr>
            <p:ph type="title"/>
          </p:nvPr>
        </p:nvSpPr>
        <p:spPr>
          <a:xfrm>
            <a:off x="630936" y="639520"/>
            <a:ext cx="3429000" cy="1719072"/>
          </a:xfrm>
        </p:spPr>
        <p:txBody>
          <a:bodyPr anchor="b">
            <a:normAutofit/>
          </a:bodyPr>
          <a:lstStyle/>
          <a:p>
            <a:r>
              <a:rPr lang="en-AU" sz="5400" b="1" dirty="0"/>
              <a:t>Window of tolerance</a:t>
            </a:r>
            <a:endParaRPr lang="en-AU" sz="5400" dirty="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EE6944-E1E7-C2E5-E07A-1AAF43D05C28}"/>
              </a:ext>
            </a:extLst>
          </p:cNvPr>
          <p:cNvSpPr>
            <a:spLocks noGrp="1"/>
          </p:cNvSpPr>
          <p:nvPr>
            <p:ph idx="1"/>
          </p:nvPr>
        </p:nvSpPr>
        <p:spPr>
          <a:xfrm>
            <a:off x="630936" y="2807208"/>
            <a:ext cx="3429000" cy="3410712"/>
          </a:xfrm>
        </p:spPr>
        <p:txBody>
          <a:bodyPr anchor="t">
            <a:normAutofit/>
          </a:bodyPr>
          <a:lstStyle/>
          <a:p>
            <a:r>
              <a:rPr lang="en-AU" sz="2200" dirty="0"/>
              <a:t>To provide an intervention we our we must think about not only the 1-5 scaling Cyndi provided (right) but also how it maps to a person’s window of tolerance (next slide)</a:t>
            </a:r>
          </a:p>
          <a:p>
            <a:endParaRPr lang="en-AU" sz="2200" dirty="0"/>
          </a:p>
        </p:txBody>
      </p:sp>
      <p:pic>
        <p:nvPicPr>
          <p:cNvPr id="5" name="Picture 4">
            <a:extLst>
              <a:ext uri="{FF2B5EF4-FFF2-40B4-BE49-F238E27FC236}">
                <a16:creationId xmlns:a16="http://schemas.microsoft.com/office/drawing/2014/main" id="{090DC623-32BB-B306-7FAF-3B70200B385B}"/>
              </a:ext>
            </a:extLst>
          </p:cNvPr>
          <p:cNvPicPr>
            <a:picLocks noChangeAspect="1"/>
          </p:cNvPicPr>
          <p:nvPr/>
        </p:nvPicPr>
        <p:blipFill>
          <a:blip r:embed="rId2"/>
          <a:stretch>
            <a:fillRect/>
          </a:stretch>
        </p:blipFill>
        <p:spPr>
          <a:xfrm>
            <a:off x="4654296" y="1634032"/>
            <a:ext cx="6903720" cy="3589935"/>
          </a:xfrm>
          <a:prstGeom prst="rect">
            <a:avLst/>
          </a:prstGeom>
        </p:spPr>
      </p:pic>
    </p:spTree>
    <p:extLst>
      <p:ext uri="{BB962C8B-B14F-4D97-AF65-F5344CB8AC3E}">
        <p14:creationId xmlns:p14="http://schemas.microsoft.com/office/powerpoint/2010/main" val="3648742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48CA-CE19-E654-D919-7D347E56D39D}"/>
              </a:ext>
            </a:extLst>
          </p:cNvPr>
          <p:cNvSpPr>
            <a:spLocks noGrp="1"/>
          </p:cNvSpPr>
          <p:nvPr>
            <p:ph type="title"/>
          </p:nvPr>
        </p:nvSpPr>
        <p:spPr>
          <a:xfrm>
            <a:off x="630936" y="457200"/>
            <a:ext cx="4343400" cy="1929384"/>
          </a:xfrm>
        </p:spPr>
        <p:txBody>
          <a:bodyPr anchor="ctr">
            <a:normAutofit/>
          </a:bodyPr>
          <a:lstStyle/>
          <a:p>
            <a:r>
              <a:rPr lang="en-AU" sz="4800"/>
              <a:t>Window of tolerance cont. </a:t>
            </a:r>
          </a:p>
        </p:txBody>
      </p:sp>
      <p:sp>
        <p:nvSpPr>
          <p:cNvPr id="2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C4EB8A-6839-3EF2-44EE-82CBBB3896BA}"/>
              </a:ext>
            </a:extLst>
          </p:cNvPr>
          <p:cNvSpPr>
            <a:spLocks noGrp="1"/>
          </p:cNvSpPr>
          <p:nvPr>
            <p:ph idx="1"/>
          </p:nvPr>
        </p:nvSpPr>
        <p:spPr>
          <a:xfrm>
            <a:off x="5541263" y="457200"/>
            <a:ext cx="6007608" cy="1929384"/>
          </a:xfrm>
        </p:spPr>
        <p:txBody>
          <a:bodyPr anchor="ctr">
            <a:normAutofit/>
          </a:bodyPr>
          <a:lstStyle/>
          <a:p>
            <a:pPr lvl="0"/>
            <a:r>
              <a:rPr lang="en-AU" sz="1600" dirty="0"/>
              <a:t>We want to eventually get our students to a window of tolerance (may take 20 minutes, may take years!)</a:t>
            </a:r>
          </a:p>
          <a:p>
            <a:pPr lvl="0"/>
            <a:r>
              <a:rPr lang="en-AU" sz="1600" dirty="0"/>
              <a:t>Be aware of fawning in </a:t>
            </a:r>
            <a:r>
              <a:rPr lang="en-AU" sz="1600" dirty="0" err="1"/>
              <a:t>hypoarousal</a:t>
            </a:r>
            <a:r>
              <a:rPr lang="en-AU" sz="1600" dirty="0"/>
              <a:t> and careful not to confuse submission with agreeance to interventions you try!</a:t>
            </a:r>
          </a:p>
          <a:p>
            <a:pPr lvl="0"/>
            <a:r>
              <a:rPr lang="en-AU" sz="1600" dirty="0"/>
              <a:t>Be aware of certain physiological states that may confuse tolerance state</a:t>
            </a:r>
            <a:r>
              <a:rPr lang="en-AU" sz="1600" b="1" dirty="0"/>
              <a:t> (always compare to baseline)</a:t>
            </a:r>
          </a:p>
        </p:txBody>
      </p:sp>
      <p:pic>
        <p:nvPicPr>
          <p:cNvPr id="5" name="Picture 4">
            <a:extLst>
              <a:ext uri="{FF2B5EF4-FFF2-40B4-BE49-F238E27FC236}">
                <a16:creationId xmlns:a16="http://schemas.microsoft.com/office/drawing/2014/main" id="{F7F11A40-943E-DFCF-07AA-D9A6230E8C21}"/>
              </a:ext>
            </a:extLst>
          </p:cNvPr>
          <p:cNvPicPr>
            <a:picLocks noChangeAspect="1"/>
          </p:cNvPicPr>
          <p:nvPr/>
        </p:nvPicPr>
        <p:blipFill>
          <a:blip r:embed="rId2"/>
          <a:srcRect r="-3" b="14131"/>
          <a:stretch>
            <a:fillRect/>
          </a:stretch>
        </p:blipFill>
        <p:spPr>
          <a:xfrm>
            <a:off x="497253" y="2569464"/>
            <a:ext cx="5406294" cy="3678936"/>
          </a:xfrm>
          <a:prstGeom prst="rect">
            <a:avLst/>
          </a:prstGeom>
        </p:spPr>
      </p:pic>
      <p:pic>
        <p:nvPicPr>
          <p:cNvPr id="4" name="Picture 3" descr="20 Practices to Increase Our Window of Tolerance — KOI Education">
            <a:extLst>
              <a:ext uri="{FF2B5EF4-FFF2-40B4-BE49-F238E27FC236}">
                <a16:creationId xmlns:a16="http://schemas.microsoft.com/office/drawing/2014/main" id="{D65653E2-C0CB-EF15-96B9-EDCF90C1E6E9}"/>
              </a:ext>
            </a:extLst>
          </p:cNvPr>
          <p:cNvPicPr>
            <a:picLocks noChangeAspect="1"/>
          </p:cNvPicPr>
          <p:nvPr/>
        </p:nvPicPr>
        <p:blipFill>
          <a:blip r:embed="rId3" cstate="print">
            <a:extLst>
              <a:ext uri="{28A0092B-C50C-407E-A947-70E740481C1C}">
                <a14:useLocalDpi xmlns:a14="http://schemas.microsoft.com/office/drawing/2010/main" val="0"/>
              </a:ext>
            </a:extLst>
          </a:blip>
          <a:srcRect b="11039"/>
          <a:stretch>
            <a:fillRect/>
          </a:stretch>
        </p:blipFill>
        <p:spPr bwMode="auto">
          <a:xfrm>
            <a:off x="6311884" y="2569464"/>
            <a:ext cx="5353335" cy="3678936"/>
          </a:xfrm>
          <a:prstGeom prst="rect">
            <a:avLst/>
          </a:prstGeom>
          <a:noFill/>
        </p:spPr>
      </p:pic>
    </p:spTree>
    <p:extLst>
      <p:ext uri="{BB962C8B-B14F-4D97-AF65-F5344CB8AC3E}">
        <p14:creationId xmlns:p14="http://schemas.microsoft.com/office/powerpoint/2010/main" val="2631476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1FF97-CCAA-78CC-9300-ECB08D02A1D9}"/>
              </a:ext>
            </a:extLst>
          </p:cNvPr>
          <p:cNvSpPr>
            <a:spLocks noGrp="1"/>
          </p:cNvSpPr>
          <p:nvPr>
            <p:ph type="title"/>
          </p:nvPr>
        </p:nvSpPr>
        <p:spPr>
          <a:xfrm>
            <a:off x="630936" y="640080"/>
            <a:ext cx="4818888" cy="1481328"/>
          </a:xfrm>
        </p:spPr>
        <p:txBody>
          <a:bodyPr anchor="b">
            <a:normAutofit/>
          </a:bodyPr>
          <a:lstStyle/>
          <a:p>
            <a:r>
              <a:rPr lang="en-AU" sz="4200"/>
              <a:t>Verbal interventions – active listening </a:t>
            </a:r>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F460137-C533-69F1-B8ED-DB6643A7BBA7}"/>
              </a:ext>
            </a:extLst>
          </p:cNvPr>
          <p:cNvSpPr>
            <a:spLocks noGrp="1"/>
          </p:cNvSpPr>
          <p:nvPr>
            <p:ph idx="1"/>
          </p:nvPr>
        </p:nvSpPr>
        <p:spPr>
          <a:xfrm>
            <a:off x="630936" y="2660904"/>
            <a:ext cx="4818888" cy="3547872"/>
          </a:xfrm>
        </p:spPr>
        <p:txBody>
          <a:bodyPr anchor="t">
            <a:normAutofit/>
          </a:bodyPr>
          <a:lstStyle/>
          <a:p>
            <a:r>
              <a:rPr lang="en-AU" sz="2000" dirty="0"/>
              <a:t>A few nuances with the picture on active listening doesn’t cover</a:t>
            </a:r>
          </a:p>
          <a:p>
            <a:r>
              <a:rPr lang="en-AU" sz="2000" dirty="0"/>
              <a:t>Be culturally aware (all cultures)</a:t>
            </a:r>
          </a:p>
          <a:p>
            <a:pPr lvl="1"/>
            <a:r>
              <a:rPr lang="en-AU" sz="2000" dirty="0"/>
              <a:t>EG. Some cultures see suffering as a sign of strength </a:t>
            </a:r>
          </a:p>
          <a:p>
            <a:pPr lvl="0"/>
            <a:r>
              <a:rPr lang="en-AU" sz="2000" dirty="0"/>
              <a:t>Eye contact</a:t>
            </a:r>
          </a:p>
          <a:p>
            <a:pPr lvl="1"/>
            <a:r>
              <a:rPr lang="en-AU" sz="2000" dirty="0"/>
              <a:t>Maintain good but not 100% eye contact </a:t>
            </a:r>
          </a:p>
          <a:p>
            <a:pPr lvl="1"/>
            <a:r>
              <a:rPr lang="en-AU" sz="2000" dirty="0"/>
              <a:t>Some cultures and neurodivergent persons prefer no eye contact</a:t>
            </a:r>
          </a:p>
          <a:p>
            <a:pPr lvl="1"/>
            <a:endParaRPr lang="en-AU" sz="2000" dirty="0"/>
          </a:p>
        </p:txBody>
      </p:sp>
      <p:pic>
        <p:nvPicPr>
          <p:cNvPr id="4" name="Picture 3" descr="Active Listening - 12 Skills of Listening - Wide Lens Leadership">
            <a:extLst>
              <a:ext uri="{FF2B5EF4-FFF2-40B4-BE49-F238E27FC236}">
                <a16:creationId xmlns:a16="http://schemas.microsoft.com/office/drawing/2014/main" id="{6D72368B-86D0-04A3-AB96-1E2506DB95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6099048" y="699516"/>
            <a:ext cx="5458968" cy="5458968"/>
          </a:xfrm>
          <a:prstGeom prst="rect">
            <a:avLst/>
          </a:prstGeom>
          <a:noFill/>
        </p:spPr>
      </p:pic>
    </p:spTree>
    <p:extLst>
      <p:ext uri="{BB962C8B-B14F-4D97-AF65-F5344CB8AC3E}">
        <p14:creationId xmlns:p14="http://schemas.microsoft.com/office/powerpoint/2010/main" val="1225877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3BB72D-19DC-23EC-4614-17EC2ED08627}"/>
              </a:ext>
            </a:extLst>
          </p:cNvPr>
          <p:cNvSpPr>
            <a:spLocks noGrp="1"/>
          </p:cNvSpPr>
          <p:nvPr>
            <p:ph type="title"/>
          </p:nvPr>
        </p:nvSpPr>
        <p:spPr>
          <a:xfrm>
            <a:off x="838200" y="365125"/>
            <a:ext cx="10515600" cy="1325563"/>
          </a:xfrm>
        </p:spPr>
        <p:txBody>
          <a:bodyPr>
            <a:normAutofit/>
          </a:bodyPr>
          <a:lstStyle/>
          <a:p>
            <a:r>
              <a:rPr lang="en-AU" sz="3400" b="1" dirty="0"/>
              <a:t>Verbal techniques (communication and deescalation)</a:t>
            </a:r>
            <a:br>
              <a:rPr lang="en-AU" sz="3400" b="1" dirty="0"/>
            </a:br>
            <a:endParaRPr lang="en-AU" sz="3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142E607-C363-760A-AA25-835A0E11F141}"/>
              </a:ext>
            </a:extLst>
          </p:cNvPr>
          <p:cNvSpPr>
            <a:spLocks noGrp="1"/>
          </p:cNvSpPr>
          <p:nvPr>
            <p:ph idx="1"/>
          </p:nvPr>
        </p:nvSpPr>
        <p:spPr>
          <a:xfrm>
            <a:off x="838200" y="1929384"/>
            <a:ext cx="10515600" cy="4251960"/>
          </a:xfrm>
        </p:spPr>
        <p:txBody>
          <a:bodyPr>
            <a:normAutofit/>
          </a:bodyPr>
          <a:lstStyle/>
          <a:p>
            <a:r>
              <a:rPr lang="en-AU" sz="1400" b="1" dirty="0"/>
              <a:t>Accepting: </a:t>
            </a:r>
            <a:r>
              <a:rPr lang="en-AU" sz="1400" dirty="0"/>
              <a:t>Indicates you have received the information given without judgement. </a:t>
            </a:r>
          </a:p>
          <a:p>
            <a:r>
              <a:rPr lang="en-AU" sz="1400" b="1" dirty="0"/>
              <a:t>Affective questions:</a:t>
            </a:r>
            <a:r>
              <a:rPr lang="en-AU" sz="1400" dirty="0"/>
              <a:t> Affective questions ask the respondent to relate their feelings, referring to the subjective emotional state of the individual as opposed to the objective interpretation of facts. We may guide a student carefully to acknowledge and articulate their feelings, which can at times be difficult to access “How about you, how are you feeling about it all?”</a:t>
            </a:r>
          </a:p>
          <a:p>
            <a:r>
              <a:rPr lang="en-AU" sz="1400" b="1" dirty="0"/>
              <a:t>Broad Openings:</a:t>
            </a:r>
            <a:r>
              <a:rPr lang="en-AU" sz="1400" dirty="0"/>
              <a:t> This allows the consumer to take the lead in deciding what will be discussed at the beginning of a conversation. </a:t>
            </a:r>
          </a:p>
          <a:p>
            <a:r>
              <a:rPr lang="en-AU" sz="1400" b="1" dirty="0"/>
              <a:t>Clarifying:</a:t>
            </a:r>
            <a:r>
              <a:rPr lang="en-AU" sz="1400" dirty="0"/>
              <a:t> Checking with the consumer that you have understood what was said. </a:t>
            </a:r>
          </a:p>
          <a:p>
            <a:r>
              <a:rPr lang="en-AU" sz="1400" b="1" dirty="0"/>
              <a:t>Closed-ended questions: </a:t>
            </a:r>
            <a:r>
              <a:rPr lang="en-AU" sz="1400" dirty="0"/>
              <a:t>(much more niche use than open-ended) requiring "yes/no" or brief answers, are used to quickly gather specific data, manage time-limited sessions, or reduce anxiety for inarticulate/overwhelmed clients. They are effective for safety assessments (e.g., suicide risk) and clarifying specific details but should be balanced with open-ended questions to avoid an interrogating tone.</a:t>
            </a:r>
          </a:p>
          <a:p>
            <a:r>
              <a:rPr lang="en-AU" sz="1400" b="1" dirty="0"/>
              <a:t>Empathising:</a:t>
            </a:r>
            <a:r>
              <a:rPr lang="en-AU" sz="1400" dirty="0"/>
              <a:t> To try and gain an understanding of another’s situation, how that person thinks and feels and the meaning of the situation. It also involves communicating that understanding back to the person to check if your understanding is accurate and to enable the consumer to offer further information. </a:t>
            </a:r>
          </a:p>
          <a:p>
            <a:r>
              <a:rPr lang="en-AU" sz="1400" b="1" dirty="0"/>
              <a:t>Engagement and Rapport building</a:t>
            </a:r>
            <a:r>
              <a:rPr lang="en-AU" sz="1400" dirty="0"/>
              <a:t>: Making a connection with and showing interest in the person, getting to know them, and conveying trustworthiness to facilitate honest communication. It often involves offering some information about yourself. </a:t>
            </a:r>
          </a:p>
          <a:p>
            <a:endParaRPr lang="en-AU" sz="1400" dirty="0"/>
          </a:p>
        </p:txBody>
      </p:sp>
    </p:spTree>
    <p:extLst>
      <p:ext uri="{BB962C8B-B14F-4D97-AF65-F5344CB8AC3E}">
        <p14:creationId xmlns:p14="http://schemas.microsoft.com/office/powerpoint/2010/main" val="2888768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D93D58-3878-E051-3EB3-052E6BBAD04C}"/>
              </a:ext>
            </a:extLst>
          </p:cNvPr>
          <p:cNvSpPr>
            <a:spLocks noGrp="1"/>
          </p:cNvSpPr>
          <p:nvPr>
            <p:ph type="title"/>
          </p:nvPr>
        </p:nvSpPr>
        <p:spPr>
          <a:xfrm>
            <a:off x="838200" y="365125"/>
            <a:ext cx="10515600" cy="1325563"/>
          </a:xfrm>
        </p:spPr>
        <p:txBody>
          <a:bodyPr>
            <a:normAutofit/>
          </a:bodyPr>
          <a:lstStyle/>
          <a:p>
            <a:r>
              <a:rPr lang="en-AU" sz="3000" b="1" dirty="0"/>
              <a:t>Verbal techniques (communication and deescalation) cont.</a:t>
            </a:r>
            <a:br>
              <a:rPr lang="en-AU" sz="3000" b="1" dirty="0"/>
            </a:br>
            <a:endParaRPr lang="en-AU" sz="3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CEFA8F2-22F1-7CD8-DAC8-03B1E69508A4}"/>
              </a:ext>
            </a:extLst>
          </p:cNvPr>
          <p:cNvSpPr>
            <a:spLocks noGrp="1"/>
          </p:cNvSpPr>
          <p:nvPr>
            <p:ph idx="1"/>
          </p:nvPr>
        </p:nvSpPr>
        <p:spPr>
          <a:xfrm>
            <a:off x="838200" y="1929384"/>
            <a:ext cx="10515600" cy="4251960"/>
          </a:xfrm>
        </p:spPr>
        <p:txBody>
          <a:bodyPr>
            <a:normAutofit/>
          </a:bodyPr>
          <a:lstStyle/>
          <a:p>
            <a:r>
              <a:rPr lang="en-AU" sz="1200" b="1"/>
              <a:t>Open-ended questions: </a:t>
            </a:r>
            <a:r>
              <a:rPr lang="en-AU" sz="1200"/>
              <a:t>These are questions that facilitate communication and rather than questions that elicit a yes or no response only and do not facilitate further communication about the subject matter. An example of open-ended questions: ‘What did you find most helpful when this previously occurred’? Could you tell me more about your experiences of coping with this in the past’? </a:t>
            </a:r>
          </a:p>
          <a:p>
            <a:pPr lvl="0"/>
            <a:r>
              <a:rPr lang="en-AU" sz="1200"/>
              <a:t>Some tips (not set in stone rules) </a:t>
            </a:r>
          </a:p>
          <a:p>
            <a:pPr lvl="1"/>
            <a:r>
              <a:rPr lang="en-AU" sz="1200" b="1"/>
              <a:t>Frame questions impersonally:</a:t>
            </a:r>
            <a:r>
              <a:rPr lang="en-AU" sz="1200"/>
              <a:t> Try this contrast in challenging a belief by speaking these phrases out loud. </a:t>
            </a:r>
          </a:p>
          <a:p>
            <a:pPr lvl="2"/>
            <a:r>
              <a:rPr lang="en-AU" sz="1200"/>
              <a:t>“That doesn’t make sense.”</a:t>
            </a:r>
          </a:p>
          <a:p>
            <a:pPr lvl="2"/>
            <a:r>
              <a:rPr lang="en-AU" sz="1200"/>
              <a:t>“Some people would have a hard time following that.”</a:t>
            </a:r>
          </a:p>
          <a:p>
            <a:pPr lvl="2"/>
            <a:r>
              <a:rPr lang="en-AU" sz="1200"/>
              <a:t>Depersonalising your approach will reduce conflict, and this will allow more rapport and a better therapeutic alliance to be formed. When asking sensitive questions, you should frame them with permission. Try this contrast in asking a delicate question by speaking these phrases out loud:</a:t>
            </a:r>
          </a:p>
          <a:p>
            <a:pPr lvl="3"/>
            <a:r>
              <a:rPr lang="en-AU" sz="1200"/>
              <a:t>“Tell me about your suicide attempt.” </a:t>
            </a:r>
          </a:p>
          <a:p>
            <a:pPr lvl="3"/>
            <a:r>
              <a:rPr lang="en-AU" sz="1200"/>
              <a:t>“Can I ask you some questions about when you tried to end your life?”</a:t>
            </a:r>
          </a:p>
          <a:p>
            <a:pPr lvl="1"/>
            <a:r>
              <a:rPr lang="en-AU" sz="1200" b="1"/>
              <a:t>Couching questions:</a:t>
            </a:r>
            <a:r>
              <a:rPr lang="en-AU" sz="1200"/>
              <a:t> By couching the question in a consent phrasing we allow the person to refuse to answer, which shows greater respect for them, and again addressed the power relationship. If a topic is likely to be really sensitive, it is worth flagging before even starting to explore it. The best lead-in here is:</a:t>
            </a:r>
          </a:p>
          <a:p>
            <a:pPr lvl="2"/>
            <a:r>
              <a:rPr lang="en-AU" sz="1200"/>
              <a:t>“I'd like to ask you a few difficult questions. Is that okay?”</a:t>
            </a:r>
          </a:p>
          <a:p>
            <a:pPr lvl="1"/>
            <a:r>
              <a:rPr lang="en-AU" sz="1200" b="1"/>
              <a:t>Gaining consent:</a:t>
            </a:r>
            <a:r>
              <a:rPr lang="en-AU" sz="1200"/>
              <a:t> Again, we are asking consent to explore tricky territory. The person knows if they have the emotional resilience to handle the questions, and we do not. By allowing them to decide we are more likely to build trust and a relationship.</a:t>
            </a:r>
          </a:p>
          <a:p>
            <a:endParaRPr lang="en-AU" sz="1200"/>
          </a:p>
        </p:txBody>
      </p:sp>
    </p:spTree>
    <p:extLst>
      <p:ext uri="{BB962C8B-B14F-4D97-AF65-F5344CB8AC3E}">
        <p14:creationId xmlns:p14="http://schemas.microsoft.com/office/powerpoint/2010/main" val="408600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DBFD3F-95B2-B931-757E-4545184BB830}"/>
              </a:ext>
            </a:extLst>
          </p:cNvPr>
          <p:cNvSpPr>
            <a:spLocks noGrp="1"/>
          </p:cNvSpPr>
          <p:nvPr>
            <p:ph type="title"/>
          </p:nvPr>
        </p:nvSpPr>
        <p:spPr>
          <a:xfrm>
            <a:off x="838200" y="365125"/>
            <a:ext cx="10515600" cy="1325563"/>
          </a:xfrm>
        </p:spPr>
        <p:txBody>
          <a:bodyPr>
            <a:normAutofit/>
          </a:bodyPr>
          <a:lstStyle/>
          <a:p>
            <a:r>
              <a:rPr lang="en-AU" sz="3000" b="1" dirty="0"/>
              <a:t>Verbal techniques (communication and deescalation) cont.</a:t>
            </a:r>
            <a:br>
              <a:rPr lang="en-AU" sz="3000" b="1" dirty="0"/>
            </a:br>
            <a:endParaRPr lang="en-AU" sz="3000" dirty="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BD4466A-8C55-07DD-D76E-FB9D313E21D9}"/>
              </a:ext>
            </a:extLst>
          </p:cNvPr>
          <p:cNvSpPr>
            <a:spLocks noGrp="1"/>
          </p:cNvSpPr>
          <p:nvPr>
            <p:ph idx="1"/>
          </p:nvPr>
        </p:nvSpPr>
        <p:spPr>
          <a:xfrm>
            <a:off x="838200" y="1929384"/>
            <a:ext cx="10515600" cy="4251960"/>
          </a:xfrm>
        </p:spPr>
        <p:txBody>
          <a:bodyPr>
            <a:normAutofit lnSpcReduction="10000"/>
          </a:bodyPr>
          <a:lstStyle/>
          <a:p>
            <a:r>
              <a:rPr lang="en-AU" sz="1400" b="1" dirty="0"/>
              <a:t>Exploring:</a:t>
            </a:r>
            <a:r>
              <a:rPr lang="en-AU" sz="1400" dirty="0"/>
              <a:t> Examining a point/issue in-depth. This also demonstrates that you are listening and focused on what is being said. Facilitating problem solving: Enabling the consumer to identify and the consider the merits of potential solutions. </a:t>
            </a:r>
          </a:p>
          <a:p>
            <a:r>
              <a:rPr lang="en-AU" sz="1400" b="1" dirty="0"/>
              <a:t>Focusing:</a:t>
            </a:r>
            <a:r>
              <a:rPr lang="en-AU" sz="1400" dirty="0"/>
              <a:t> Concentrating on a single point or issue for discussion. </a:t>
            </a:r>
          </a:p>
          <a:p>
            <a:r>
              <a:rPr lang="en-AU" sz="1400" b="1" dirty="0"/>
              <a:t>Informing:</a:t>
            </a:r>
            <a:r>
              <a:rPr lang="en-AU" sz="1400" dirty="0"/>
              <a:t> Giving information or directing to sources of information. Making observations: Verbalising what you have heard and noticed. </a:t>
            </a:r>
          </a:p>
          <a:p>
            <a:r>
              <a:rPr lang="en-AU" sz="1400" b="1" dirty="0"/>
              <a:t>Probing questions: </a:t>
            </a:r>
            <a:r>
              <a:rPr lang="en-AU" sz="1400" dirty="0"/>
              <a:t>This type of question encourages expansion on previously made points. Probing questions may help in clarifying a problem and in eliciting examples of specific issues: ‘Can you give an example of what might trigger off the vomiting?</a:t>
            </a:r>
          </a:p>
          <a:p>
            <a:r>
              <a:rPr lang="en-AU" sz="1400" b="1" dirty="0"/>
              <a:t>Restating:</a:t>
            </a:r>
            <a:r>
              <a:rPr lang="en-AU" sz="1400" dirty="0"/>
              <a:t> Stating what the consumer has expressed, including their feelings and thoughts. It demonstrates that you have been listening and gives the consumer an opportunity to clarify anything that has been misunderstood. </a:t>
            </a:r>
          </a:p>
          <a:p>
            <a:r>
              <a:rPr lang="en-AU" sz="1400" b="1" dirty="0"/>
              <a:t>Redirection:</a:t>
            </a:r>
            <a:r>
              <a:rPr lang="en-AU" sz="1400" dirty="0"/>
              <a:t> Also, a big deescalation technique. By redirecting the conversation gently (which can be done by restating the problem in a positive light – e.g. The video that planned on redirected missing the trip to what sort of fun do you plan on having on the trip). </a:t>
            </a:r>
          </a:p>
          <a:p>
            <a:r>
              <a:rPr lang="en-AU" sz="1400" b="1" dirty="0"/>
              <a:t>Rhetorical questions (use sparingly and respectfully):</a:t>
            </a:r>
            <a:r>
              <a:rPr lang="en-AU" sz="1400" dirty="0"/>
              <a:t> Rhetorical questions are not asked with the intention of receiving an answer; indeed, at times the questioner may go on to provide the answer themselves, or use the question as a summary, before moving the student on by asking a further question. EG. “So, you haven’t been successful in losing weight before (rhetorical question), and now you are concerned for your and your baby’s health? (closed question)”</a:t>
            </a:r>
          </a:p>
          <a:p>
            <a:r>
              <a:rPr lang="en-AU" sz="1400" b="1" dirty="0"/>
              <a:t>Self-disclosure:</a:t>
            </a:r>
            <a:r>
              <a:rPr lang="en-AU" sz="1400" dirty="0"/>
              <a:t> The degree of self-disclosure by the professional is determined by the consumer’s needs and overall benefits. </a:t>
            </a:r>
          </a:p>
          <a:p>
            <a:r>
              <a:rPr lang="en-AU" sz="1400" b="1" dirty="0"/>
              <a:t>Summarising:</a:t>
            </a:r>
            <a:r>
              <a:rPr lang="en-AU" sz="1400" dirty="0"/>
              <a:t> Summing up what has been stated by the consumer: verbalising the most salient points and can be used to close a therapeutic interaction. Validating: Affirming the consumer’s experiences as real.</a:t>
            </a:r>
          </a:p>
          <a:p>
            <a:endParaRPr lang="en-AU" sz="1400" dirty="0"/>
          </a:p>
          <a:p>
            <a:endParaRPr lang="en-AU" sz="1400" dirty="0"/>
          </a:p>
        </p:txBody>
      </p:sp>
    </p:spTree>
    <p:extLst>
      <p:ext uri="{BB962C8B-B14F-4D97-AF65-F5344CB8AC3E}">
        <p14:creationId xmlns:p14="http://schemas.microsoft.com/office/powerpoint/2010/main" val="3124103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EEA9F-4865-5384-D72B-CE013030891A}"/>
              </a:ext>
            </a:extLst>
          </p:cNvPr>
          <p:cNvSpPr>
            <a:spLocks noGrp="1"/>
          </p:cNvSpPr>
          <p:nvPr>
            <p:ph type="title"/>
          </p:nvPr>
        </p:nvSpPr>
        <p:spPr>
          <a:xfrm>
            <a:off x="838200" y="365125"/>
            <a:ext cx="10515600" cy="1325563"/>
          </a:xfrm>
        </p:spPr>
        <p:txBody>
          <a:bodyPr>
            <a:normAutofit/>
          </a:bodyPr>
          <a:lstStyle/>
          <a:p>
            <a:r>
              <a:rPr lang="en-AU" sz="3000" b="1" dirty="0"/>
              <a:t>Verbal techniques (communication and deescalation) cont.</a:t>
            </a:r>
            <a:br>
              <a:rPr lang="en-AU" sz="3000" b="1" dirty="0"/>
            </a:br>
            <a:endParaRPr lang="en-AU" sz="3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C33123-3BF1-07F8-0AD3-D69652F722CD}"/>
              </a:ext>
            </a:extLst>
          </p:cNvPr>
          <p:cNvSpPr>
            <a:spLocks noGrp="1"/>
          </p:cNvSpPr>
          <p:nvPr>
            <p:ph idx="1"/>
          </p:nvPr>
        </p:nvSpPr>
        <p:spPr>
          <a:xfrm>
            <a:off x="838200" y="1929384"/>
            <a:ext cx="10515600" cy="4251960"/>
          </a:xfrm>
        </p:spPr>
        <p:txBody>
          <a:bodyPr>
            <a:normAutofit/>
          </a:bodyPr>
          <a:lstStyle/>
          <a:p>
            <a:r>
              <a:rPr lang="en-AU" sz="1700" b="1" dirty="0"/>
              <a:t>Silence (Used by staff):</a:t>
            </a:r>
            <a:r>
              <a:rPr lang="en-AU" sz="1700" dirty="0"/>
              <a:t> Used to allow the consumer time to think, respond and react. Active listening is maintained by the professional during periods of silence. </a:t>
            </a:r>
          </a:p>
          <a:p>
            <a:r>
              <a:rPr lang="en-AU" sz="1700" b="1" dirty="0"/>
              <a:t>Silence (used by student): </a:t>
            </a:r>
          </a:p>
          <a:p>
            <a:pPr lvl="1"/>
            <a:r>
              <a:rPr lang="en-AU" sz="1700" dirty="0"/>
              <a:t>Passive </a:t>
            </a:r>
          </a:p>
          <a:p>
            <a:pPr lvl="1"/>
            <a:r>
              <a:rPr lang="en-AU" sz="1700" dirty="0"/>
              <a:t>Active </a:t>
            </a:r>
          </a:p>
          <a:p>
            <a:pPr lvl="1"/>
            <a:r>
              <a:rPr lang="en-AU" sz="1700" dirty="0"/>
              <a:t>Creative </a:t>
            </a:r>
          </a:p>
          <a:p>
            <a:pPr lvl="1"/>
            <a:r>
              <a:rPr lang="en-AU" sz="1700" dirty="0"/>
              <a:t>Destructive </a:t>
            </a:r>
            <a:endParaRPr lang="en-AU" sz="1700" b="1" dirty="0"/>
          </a:p>
          <a:p>
            <a:r>
              <a:rPr lang="en-AU" sz="1700" dirty="0"/>
              <a:t>Positive silences, characterized by intimacy and harmony, feel comfortable and they encourage the staff/student to become more aware of their inner worlds and of each other. In this sense the silence is active and creative. </a:t>
            </a:r>
          </a:p>
          <a:p>
            <a:r>
              <a:rPr lang="en-AU" sz="1700" dirty="0"/>
              <a:t>Negative silences are less comfortable and are associated with a tension that suggests animosity or hostility. The nature of a silence can be checked through a simple question. </a:t>
            </a:r>
          </a:p>
          <a:p>
            <a:pPr lvl="1"/>
            <a:r>
              <a:rPr lang="en-AU" sz="1300" dirty="0"/>
              <a:t>A simple ‘What’s happening?’ or ‘What are you feeling at this moment?’ offers the student the opportunity to say as much or as little about the silence as they feel able to. </a:t>
            </a:r>
          </a:p>
          <a:p>
            <a:pPr lvl="1"/>
            <a:r>
              <a:rPr lang="en-AU" sz="1300" dirty="0"/>
              <a:t>Alternatively, you might ask: ‘Are you finding it difficult to put something into words?’</a:t>
            </a:r>
          </a:p>
          <a:p>
            <a:endParaRPr lang="en-AU" sz="1700" dirty="0"/>
          </a:p>
          <a:p>
            <a:endParaRPr lang="en-AU" sz="1700" dirty="0"/>
          </a:p>
        </p:txBody>
      </p:sp>
    </p:spTree>
    <p:extLst>
      <p:ext uri="{BB962C8B-B14F-4D97-AF65-F5344CB8AC3E}">
        <p14:creationId xmlns:p14="http://schemas.microsoft.com/office/powerpoint/2010/main" val="2171632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DD745A-EB4F-F2D5-29E4-2287580761BB}"/>
              </a:ext>
            </a:extLst>
          </p:cNvPr>
          <p:cNvSpPr>
            <a:spLocks noGrp="1"/>
          </p:cNvSpPr>
          <p:nvPr>
            <p:ph type="title"/>
          </p:nvPr>
        </p:nvSpPr>
        <p:spPr>
          <a:xfrm>
            <a:off x="838200" y="365125"/>
            <a:ext cx="10515600" cy="1325563"/>
          </a:xfrm>
        </p:spPr>
        <p:txBody>
          <a:bodyPr>
            <a:normAutofit/>
          </a:bodyPr>
          <a:lstStyle/>
          <a:p>
            <a:r>
              <a:rPr lang="en-AU" sz="4200" b="1"/>
              <a:t>Motivational interviewing (Basic version)</a:t>
            </a:r>
            <a:br>
              <a:rPr lang="en-AU" sz="4200" b="1"/>
            </a:br>
            <a:r>
              <a:rPr lang="en-AU" sz="4200" b="1"/>
              <a:t>(EXPERT LEVEL REQUIREMENT)</a:t>
            </a:r>
            <a:endParaRPr lang="en-AU"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E13DCEAD-47CC-D62B-8B65-67910D7EA1CD}"/>
              </a:ext>
            </a:extLst>
          </p:cNvPr>
          <p:cNvSpPr>
            <a:spLocks noGrp="1"/>
          </p:cNvSpPr>
          <p:nvPr>
            <p:ph idx="1"/>
          </p:nvPr>
        </p:nvSpPr>
        <p:spPr>
          <a:xfrm>
            <a:off x="838200" y="1929384"/>
            <a:ext cx="10515600" cy="4251960"/>
          </a:xfrm>
        </p:spPr>
        <p:txBody>
          <a:bodyPr>
            <a:normAutofit/>
          </a:bodyPr>
          <a:lstStyle/>
          <a:p>
            <a:pPr lvl="0"/>
            <a:r>
              <a:rPr lang="en-AU" sz="2200" dirty="0"/>
              <a:t>MI is an extremely hard skill to master, Richard (maybe without realising) may be the first person I have met who can do it well (or maybe I am biased). </a:t>
            </a:r>
          </a:p>
          <a:p>
            <a:pPr lvl="0"/>
            <a:r>
              <a:rPr lang="en-AU" sz="2200" dirty="0"/>
              <a:t>Without going into too much detail its name is self-explanatory, you are talking to someone with the intent to motivate change. So, I will keep it to main points</a:t>
            </a:r>
          </a:p>
          <a:p>
            <a:pPr lvl="0"/>
            <a:r>
              <a:rPr lang="en-AU" sz="2200" dirty="0"/>
              <a:t>I only briefly mention it here as the relevance we are looking for to motivate someone distressed is </a:t>
            </a:r>
            <a:r>
              <a:rPr lang="en-AU" sz="2200" b="1" dirty="0"/>
              <a:t>“change talk”. </a:t>
            </a:r>
            <a:r>
              <a:rPr lang="en-AU" sz="2200" dirty="0"/>
              <a:t>These included phrases from the student like:</a:t>
            </a:r>
          </a:p>
          <a:p>
            <a:pPr lvl="1"/>
            <a:r>
              <a:rPr lang="en-AU" sz="2200" dirty="0"/>
              <a:t>express desire (“I want to...”) </a:t>
            </a:r>
          </a:p>
          <a:p>
            <a:pPr lvl="1"/>
            <a:r>
              <a:rPr lang="en-AU" sz="2200" dirty="0"/>
              <a:t>ability (“I can...”) </a:t>
            </a:r>
          </a:p>
          <a:p>
            <a:pPr lvl="1"/>
            <a:r>
              <a:rPr lang="en-AU" sz="2200" dirty="0"/>
              <a:t>reasons to change (“I want...”) </a:t>
            </a:r>
          </a:p>
          <a:p>
            <a:pPr lvl="1"/>
            <a:r>
              <a:rPr lang="en-AU" sz="2200" dirty="0"/>
              <a:t>need (“I have to...”)</a:t>
            </a:r>
          </a:p>
        </p:txBody>
      </p:sp>
    </p:spTree>
    <p:extLst>
      <p:ext uri="{BB962C8B-B14F-4D97-AF65-F5344CB8AC3E}">
        <p14:creationId xmlns:p14="http://schemas.microsoft.com/office/powerpoint/2010/main" val="1801764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D75BCD-8AB1-6674-C7F3-0DADBFB4B323}"/>
              </a:ext>
            </a:extLst>
          </p:cNvPr>
          <p:cNvSpPr>
            <a:spLocks noGrp="1"/>
          </p:cNvSpPr>
          <p:nvPr>
            <p:ph type="title"/>
          </p:nvPr>
        </p:nvSpPr>
        <p:spPr>
          <a:xfrm>
            <a:off x="838200" y="365125"/>
            <a:ext cx="10515600" cy="1325563"/>
          </a:xfrm>
        </p:spPr>
        <p:txBody>
          <a:bodyPr>
            <a:normAutofit/>
          </a:bodyPr>
          <a:lstStyle/>
          <a:p>
            <a:r>
              <a:rPr lang="en-AU" sz="5400"/>
              <a:t>Motivational interviewing cont.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8AA586-36EE-B370-B6DE-5443EE8F5CC9}"/>
              </a:ext>
            </a:extLst>
          </p:cNvPr>
          <p:cNvSpPr>
            <a:spLocks noGrp="1"/>
          </p:cNvSpPr>
          <p:nvPr>
            <p:ph idx="1"/>
          </p:nvPr>
        </p:nvSpPr>
        <p:spPr>
          <a:xfrm>
            <a:off x="838200" y="1929384"/>
            <a:ext cx="10515600" cy="4251960"/>
          </a:xfrm>
        </p:spPr>
        <p:txBody>
          <a:bodyPr>
            <a:normAutofit/>
          </a:bodyPr>
          <a:lstStyle/>
          <a:p>
            <a:pPr lvl="0"/>
            <a:r>
              <a:rPr lang="en-AU" sz="2200"/>
              <a:t>Stages of change </a:t>
            </a:r>
          </a:p>
          <a:p>
            <a:pPr lvl="1"/>
            <a:r>
              <a:rPr lang="en-AU" sz="2200" b="1"/>
              <a:t>Precontemplation (not ready):</a:t>
            </a:r>
            <a:r>
              <a:rPr lang="en-AU" sz="2200"/>
              <a:t> Not even considering change</a:t>
            </a:r>
          </a:p>
          <a:p>
            <a:pPr lvl="1"/>
            <a:r>
              <a:rPr lang="en-AU" sz="2200" b="1"/>
              <a:t>Contemplation (getting ready): </a:t>
            </a:r>
            <a:r>
              <a:rPr lang="en-AU" sz="2200"/>
              <a:t>Ambivalent about making a change</a:t>
            </a:r>
          </a:p>
          <a:p>
            <a:pPr lvl="1"/>
            <a:r>
              <a:rPr lang="en-AU" sz="2200" b="1"/>
              <a:t>Preparation (ready):</a:t>
            </a:r>
            <a:r>
              <a:rPr lang="en-AU" sz="2200"/>
              <a:t> Taking steps toward implementing change</a:t>
            </a:r>
          </a:p>
          <a:p>
            <a:pPr lvl="1"/>
            <a:r>
              <a:rPr lang="en-AU" sz="2200" b="1"/>
              <a:t>Action (ready):</a:t>
            </a:r>
            <a:r>
              <a:rPr lang="en-AU" sz="2200"/>
              <a:t> Actively involved in the change process</a:t>
            </a:r>
          </a:p>
          <a:p>
            <a:pPr lvl="1"/>
            <a:r>
              <a:rPr lang="en-AU" sz="2200" b="1"/>
              <a:t>Maintenance (sticking to it):</a:t>
            </a:r>
            <a:r>
              <a:rPr lang="en-AU" sz="2200"/>
              <a:t> Sustaining the target behaviour</a:t>
            </a:r>
          </a:p>
          <a:p>
            <a:pPr lvl="1"/>
            <a:r>
              <a:rPr lang="en-AU" sz="2200" b="1"/>
              <a:t>Relapse (learning):</a:t>
            </a:r>
            <a:r>
              <a:rPr lang="en-AU" sz="2200"/>
              <a:t> Cycle restarter (but often faster than the first cycle)</a:t>
            </a:r>
          </a:p>
          <a:p>
            <a:pPr marL="0" indent="0">
              <a:buNone/>
            </a:pPr>
            <a:endParaRPr lang="en-AU" sz="2200"/>
          </a:p>
        </p:txBody>
      </p:sp>
    </p:spTree>
    <p:extLst>
      <p:ext uri="{BB962C8B-B14F-4D97-AF65-F5344CB8AC3E}">
        <p14:creationId xmlns:p14="http://schemas.microsoft.com/office/powerpoint/2010/main" val="1619952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42BEA4-C1A2-1FE2-28B4-BF0A352098C1}"/>
              </a:ext>
            </a:extLst>
          </p:cNvPr>
          <p:cNvSpPr>
            <a:spLocks noGrp="1"/>
          </p:cNvSpPr>
          <p:nvPr>
            <p:ph type="title"/>
          </p:nvPr>
        </p:nvSpPr>
        <p:spPr>
          <a:xfrm>
            <a:off x="841248" y="548640"/>
            <a:ext cx="3600860" cy="5431536"/>
          </a:xfrm>
        </p:spPr>
        <p:txBody>
          <a:bodyPr>
            <a:normAutofit/>
          </a:bodyPr>
          <a:lstStyle/>
          <a:p>
            <a:r>
              <a:rPr lang="en-AU" sz="5400" dirty="0"/>
              <a:t>Motivational interviewing techniques</a:t>
            </a:r>
            <a:br>
              <a:rPr lang="en-AU" sz="5400" dirty="0"/>
            </a:br>
            <a:r>
              <a:rPr lang="en-AU" sz="5400" dirty="0"/>
              <a:t>(in short)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1D58D3F7-0E53-7173-F663-946BCE2310D1}"/>
              </a:ext>
            </a:extLst>
          </p:cNvPr>
          <p:cNvSpPr>
            <a:spLocks noGrp="1"/>
          </p:cNvSpPr>
          <p:nvPr>
            <p:ph idx="1"/>
          </p:nvPr>
        </p:nvSpPr>
        <p:spPr>
          <a:xfrm>
            <a:off x="5126418" y="552091"/>
            <a:ext cx="6224335" cy="5431536"/>
          </a:xfrm>
        </p:spPr>
        <p:txBody>
          <a:bodyPr anchor="ctr">
            <a:normAutofit/>
          </a:bodyPr>
          <a:lstStyle/>
          <a:p>
            <a:r>
              <a:rPr lang="en-AU" sz="1200"/>
              <a:t>You are more than welcome to try but I assure you this is an ARTFUL skill to master</a:t>
            </a:r>
          </a:p>
          <a:p>
            <a:r>
              <a:rPr lang="en-AU" sz="1200"/>
              <a:t>MI is about motivating them to make their own changes</a:t>
            </a:r>
          </a:p>
          <a:p>
            <a:r>
              <a:rPr lang="en-AU" sz="1200"/>
              <a:t>OARS</a:t>
            </a:r>
          </a:p>
          <a:p>
            <a:pPr lvl="1"/>
            <a:r>
              <a:rPr lang="en-AU" sz="1200"/>
              <a:t>Open questions that lead to more explanation and further contemplation.</a:t>
            </a:r>
          </a:p>
          <a:p>
            <a:pPr lvl="1"/>
            <a:r>
              <a:rPr lang="en-AU" sz="1200"/>
              <a:t>Affirmations that promote positive feelings in the exchange. </a:t>
            </a:r>
          </a:p>
          <a:p>
            <a:pPr lvl="1"/>
            <a:r>
              <a:rPr lang="en-AU" sz="1200"/>
              <a:t>Reflections to prove the we’ve heard and truly understood the student.</a:t>
            </a:r>
          </a:p>
          <a:p>
            <a:pPr lvl="1"/>
            <a:r>
              <a:rPr lang="en-AU" sz="1200"/>
              <a:t>Summaries, which build on simple reflections to foster momentum or generate interest in making changes</a:t>
            </a:r>
          </a:p>
          <a:p>
            <a:r>
              <a:rPr lang="en-AU" sz="1200"/>
              <a:t>Ask – listen – ask </a:t>
            </a:r>
          </a:p>
          <a:p>
            <a:pPr lvl="1"/>
            <a:r>
              <a:rPr lang="en-AU" sz="1200"/>
              <a:t>Ask (Open, neutral question) – goal is invite them to speak, reduce pressure, avoid assumptions</a:t>
            </a:r>
          </a:p>
          <a:p>
            <a:pPr lvl="2"/>
            <a:r>
              <a:rPr lang="en-AU" sz="1200"/>
              <a:t>Examples “How are things going for you at the moment”, “What’s making today difficult?”</a:t>
            </a:r>
          </a:p>
          <a:p>
            <a:pPr lvl="1"/>
            <a:r>
              <a:rPr lang="en-AU" sz="1200"/>
              <a:t>Listen (actively, do not fix or correct what they say) – this is the most important step, use OARS and resist the urge to correct</a:t>
            </a:r>
          </a:p>
          <a:p>
            <a:pPr lvl="2"/>
            <a:r>
              <a:rPr lang="en-AU" sz="1200"/>
              <a:t>Example behaviours – nodding/open posture, validating (“that makes sense given what you’re dealing with), paraphrasing what they said (“it sounds like you’re feeling overwhelmed”)</a:t>
            </a:r>
          </a:p>
          <a:p>
            <a:pPr lvl="2"/>
            <a:r>
              <a:rPr lang="en-AU" sz="1200"/>
              <a:t>Do NOT – rush to solve, jump to advice, correct them</a:t>
            </a:r>
          </a:p>
          <a:p>
            <a:pPr lvl="1"/>
            <a:r>
              <a:rPr lang="en-AU" sz="1200"/>
              <a:t>Ask (Follow up / deepen understanding) – ask a second question that builds on what they say, supports autonomy</a:t>
            </a:r>
          </a:p>
          <a:p>
            <a:pPr lvl="2"/>
            <a:r>
              <a:rPr lang="en-AU" sz="1200"/>
              <a:t>Examples “What do you think would help right now?” “What’s worked for you before?” “What do you feel you need at the moment?”</a:t>
            </a:r>
          </a:p>
          <a:p>
            <a:pPr marL="914400" lvl="2" indent="0">
              <a:buNone/>
            </a:pPr>
            <a:r>
              <a:rPr lang="en-AU" sz="1200"/>
              <a:t> </a:t>
            </a:r>
          </a:p>
          <a:p>
            <a:endParaRPr lang="en-AU" sz="1200"/>
          </a:p>
        </p:txBody>
      </p:sp>
    </p:spTree>
    <p:extLst>
      <p:ext uri="{BB962C8B-B14F-4D97-AF65-F5344CB8AC3E}">
        <p14:creationId xmlns:p14="http://schemas.microsoft.com/office/powerpoint/2010/main" val="152883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095CA3-5273-F53A-0D14-C9BD7DDB649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1400" kern="1200" dirty="0">
                <a:solidFill>
                  <a:srgbClr val="FFFFFF"/>
                </a:solidFill>
                <a:latin typeface="+mj-lt"/>
                <a:ea typeface="+mj-ea"/>
                <a:cs typeface="+mj-cs"/>
              </a:rPr>
              <a:t>Some verbal techniques for low mood/depression/anxiety/stress</a:t>
            </a:r>
            <a:br>
              <a:rPr lang="en-US" sz="1400" kern="1200" dirty="0">
                <a:solidFill>
                  <a:srgbClr val="FFFFFF"/>
                </a:solidFill>
                <a:latin typeface="+mj-lt"/>
                <a:ea typeface="+mj-ea"/>
                <a:cs typeface="+mj-cs"/>
              </a:rPr>
            </a:br>
            <a:r>
              <a:rPr lang="en-US" sz="1400" kern="1200" dirty="0">
                <a:solidFill>
                  <a:srgbClr val="FFFFFF"/>
                </a:solidFill>
                <a:latin typeface="+mj-lt"/>
                <a:ea typeface="+mj-ea"/>
                <a:cs typeface="+mj-cs"/>
              </a:rPr>
              <a:t>(somewhat advanced but good to know)</a:t>
            </a:r>
          </a:p>
        </p:txBody>
      </p:sp>
      <p:pic>
        <p:nvPicPr>
          <p:cNvPr id="4" name="Picture 3">
            <a:extLst>
              <a:ext uri="{FF2B5EF4-FFF2-40B4-BE49-F238E27FC236}">
                <a16:creationId xmlns:a16="http://schemas.microsoft.com/office/drawing/2014/main" id="{E81D6F59-847B-A0AC-C1CC-97CF9478EB63}"/>
              </a:ext>
            </a:extLst>
          </p:cNvPr>
          <p:cNvPicPr>
            <a:picLocks noChangeAspect="1"/>
          </p:cNvPicPr>
          <p:nvPr/>
        </p:nvPicPr>
        <p:blipFill>
          <a:blip r:embed="rId2"/>
          <a:stretch>
            <a:fillRect/>
          </a:stretch>
        </p:blipFill>
        <p:spPr>
          <a:xfrm>
            <a:off x="4777316" y="800315"/>
            <a:ext cx="6780700" cy="5255041"/>
          </a:xfrm>
          <a:prstGeom prst="rect">
            <a:avLst/>
          </a:prstGeom>
        </p:spPr>
      </p:pic>
    </p:spTree>
    <p:extLst>
      <p:ext uri="{BB962C8B-B14F-4D97-AF65-F5344CB8AC3E}">
        <p14:creationId xmlns:p14="http://schemas.microsoft.com/office/powerpoint/2010/main" val="257707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9C5CE4-B334-E4D6-ACD8-9DEC563A4AC4}"/>
              </a:ext>
            </a:extLst>
          </p:cNvPr>
          <p:cNvSpPr>
            <a:spLocks noGrp="1"/>
          </p:cNvSpPr>
          <p:nvPr>
            <p:ph type="title"/>
          </p:nvPr>
        </p:nvSpPr>
        <p:spPr>
          <a:xfrm>
            <a:off x="572493" y="238539"/>
            <a:ext cx="11018520" cy="1434415"/>
          </a:xfrm>
        </p:spPr>
        <p:txBody>
          <a:bodyPr anchor="b">
            <a:normAutofit/>
          </a:bodyPr>
          <a:lstStyle/>
          <a:p>
            <a:r>
              <a:rPr lang="en-AU" sz="3400" b="1" dirty="0"/>
              <a:t>Nonverbal techniques (communication and deescalation)</a:t>
            </a:r>
            <a:br>
              <a:rPr lang="en-AU" sz="3400" b="1" dirty="0"/>
            </a:br>
            <a:endParaRPr lang="en-AU" sz="34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50D2F1B-95C5-507D-765A-28277224F426}"/>
              </a:ext>
            </a:extLst>
          </p:cNvPr>
          <p:cNvSpPr>
            <a:spLocks noGrp="1"/>
          </p:cNvSpPr>
          <p:nvPr>
            <p:ph idx="1"/>
          </p:nvPr>
        </p:nvSpPr>
        <p:spPr>
          <a:xfrm>
            <a:off x="572493" y="2071316"/>
            <a:ext cx="6713552" cy="4119172"/>
          </a:xfrm>
        </p:spPr>
        <p:txBody>
          <a:bodyPr anchor="t">
            <a:normAutofit/>
          </a:bodyPr>
          <a:lstStyle/>
          <a:p>
            <a:r>
              <a:rPr lang="en-AU" sz="2200" b="1" dirty="0"/>
              <a:t>Distance from student: </a:t>
            </a:r>
            <a:r>
              <a:rPr lang="en-AU" sz="2200" dirty="0"/>
              <a:t>This is also a deescalation technique. </a:t>
            </a:r>
            <a:r>
              <a:rPr lang="en-GB" sz="2200" dirty="0"/>
              <a:t>Maintain appropriate personal space depending on context and safety</a:t>
            </a:r>
            <a:r>
              <a:rPr lang="en-AU" sz="2200" dirty="0"/>
              <a:t>. It not only shows respect but keeps you safe in cases of escalating behaviour. </a:t>
            </a:r>
          </a:p>
          <a:p>
            <a:r>
              <a:rPr lang="en-AU" sz="2200" b="1" dirty="0"/>
              <a:t>Relaxed Demeanour:</a:t>
            </a:r>
            <a:r>
              <a:rPr lang="en-AU" sz="2200" dirty="0"/>
              <a:t> Avoid fidgeting, which can signal boredom; maintain a relaxed, calm posture.</a:t>
            </a:r>
          </a:p>
          <a:p>
            <a:r>
              <a:rPr lang="en-AU" sz="2200" b="1" dirty="0"/>
              <a:t>Uncrossed Limbs:</a:t>
            </a:r>
            <a:r>
              <a:rPr lang="en-AU" sz="2200" dirty="0"/>
              <a:t> Keep arms and legs uncrossed (legs uncrossed is for extreme cases of heightened distress) to signal that you are open to the message and not defensive.</a:t>
            </a:r>
          </a:p>
          <a:p>
            <a:endParaRPr lang="en-AU" sz="2200" dirty="0"/>
          </a:p>
          <a:p>
            <a:endParaRPr lang="en-AU" sz="2200" dirty="0"/>
          </a:p>
        </p:txBody>
      </p:sp>
      <p:pic>
        <p:nvPicPr>
          <p:cNvPr id="4" name="Picture 3">
            <a:extLst>
              <a:ext uri="{FF2B5EF4-FFF2-40B4-BE49-F238E27FC236}">
                <a16:creationId xmlns:a16="http://schemas.microsoft.com/office/drawing/2014/main" id="{5C3C14CD-0E2F-117F-DFD8-3997F852FAC7}"/>
              </a:ext>
            </a:extLst>
          </p:cNvPr>
          <p:cNvPicPr>
            <a:picLocks noChangeAspect="1"/>
          </p:cNvPicPr>
          <p:nvPr/>
        </p:nvPicPr>
        <p:blipFill>
          <a:blip r:embed="rId2"/>
          <a:srcRect l="7701" r="434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318073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B61818-194E-81A0-C1D0-6259DA22B0C0}"/>
              </a:ext>
            </a:extLst>
          </p:cNvPr>
          <p:cNvSpPr>
            <a:spLocks noGrp="1"/>
          </p:cNvSpPr>
          <p:nvPr>
            <p:ph type="title"/>
          </p:nvPr>
        </p:nvSpPr>
        <p:spPr>
          <a:xfrm>
            <a:off x="793662" y="386930"/>
            <a:ext cx="10066122" cy="1298448"/>
          </a:xfrm>
        </p:spPr>
        <p:txBody>
          <a:bodyPr anchor="b">
            <a:normAutofit/>
          </a:bodyPr>
          <a:lstStyle/>
          <a:p>
            <a:r>
              <a:rPr lang="en-AU" sz="4800" b="1" dirty="0"/>
              <a:t>Nonverbal techniques cont.</a:t>
            </a:r>
            <a:endParaRPr lang="en-AU" sz="4800" dirty="0"/>
          </a:p>
        </p:txBody>
      </p:sp>
      <p:sp>
        <p:nvSpPr>
          <p:cNvPr id="17" name="Rectangle 1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2732A8-6040-E886-703F-DB9C29044BE7}"/>
              </a:ext>
            </a:extLst>
          </p:cNvPr>
          <p:cNvSpPr>
            <a:spLocks noGrp="1"/>
          </p:cNvSpPr>
          <p:nvPr>
            <p:ph idx="1"/>
          </p:nvPr>
        </p:nvSpPr>
        <p:spPr>
          <a:xfrm>
            <a:off x="793661" y="2599509"/>
            <a:ext cx="4530898" cy="3639450"/>
          </a:xfrm>
        </p:spPr>
        <p:txBody>
          <a:bodyPr anchor="ctr">
            <a:normAutofit/>
          </a:bodyPr>
          <a:lstStyle/>
          <a:p>
            <a:r>
              <a:rPr lang="en-AU" sz="1100" b="1" dirty="0"/>
              <a:t>Eye Contact:</a:t>
            </a:r>
            <a:r>
              <a:rPr lang="en-AU" sz="1100" dirty="0"/>
              <a:t> Maintain comfortable eye contact (roughly 50–70% of the time) to show you are present and focused.</a:t>
            </a:r>
          </a:p>
          <a:p>
            <a:r>
              <a:rPr lang="en-AU" sz="1100" b="1" dirty="0"/>
              <a:t>Eye level:</a:t>
            </a:r>
            <a:r>
              <a:rPr lang="en-AU" sz="1100" dirty="0"/>
              <a:t> This also falls into the category of deescalation techniques. </a:t>
            </a:r>
            <a:r>
              <a:rPr lang="en-GB" sz="1100"/>
              <a:t>Being at the same eye level can feel less intimidating.</a:t>
            </a:r>
            <a:endParaRPr lang="en-AU" sz="1100" dirty="0"/>
          </a:p>
          <a:p>
            <a:r>
              <a:rPr lang="en-AU" sz="1100" b="1" dirty="0"/>
              <a:t>Face the Speaker:</a:t>
            </a:r>
            <a:r>
              <a:rPr lang="en-AU" sz="1100" dirty="0"/>
              <a:t> Sit or stand squarely facing the person to show they have your full attention.</a:t>
            </a:r>
          </a:p>
          <a:p>
            <a:r>
              <a:rPr lang="en-AU" sz="1100" b="1" dirty="0"/>
              <a:t>Head Nods &amp; Mirroring (Minimal encouragers):</a:t>
            </a:r>
            <a:r>
              <a:rPr lang="en-AU" sz="1100" dirty="0"/>
              <a:t> Use occasional nodding and subtle mirroring of the speaker's posture to build rapport. The same technique can be implemented using words like ‘uh huh’ ‘mm’ ‘yeah’. These are forms of showing you are listening</a:t>
            </a:r>
          </a:p>
          <a:p>
            <a:r>
              <a:rPr lang="en-AU" sz="1100" b="1" dirty="0"/>
              <a:t>Lean In:</a:t>
            </a:r>
            <a:r>
              <a:rPr lang="en-AU" sz="1100" dirty="0"/>
              <a:t> A slight forward lean demonstrates interest and engagement in the conversation.</a:t>
            </a:r>
          </a:p>
          <a:p>
            <a:r>
              <a:rPr lang="en-AU" sz="1100" b="1" dirty="0"/>
              <a:t>Open palms above waste level where student can see them:</a:t>
            </a:r>
            <a:r>
              <a:rPr lang="en-AU" sz="1100" dirty="0"/>
              <a:t> This falls into the category of deescalation techniques as well. A closed fist or hidden palms can be perceived quite easily during distress as a threat. </a:t>
            </a:r>
          </a:p>
          <a:p>
            <a:endParaRPr lang="en-AU" sz="1100" dirty="0"/>
          </a:p>
          <a:p>
            <a:endParaRPr lang="en-AU" sz="1100" dirty="0"/>
          </a:p>
        </p:txBody>
      </p:sp>
      <p:pic>
        <p:nvPicPr>
          <p:cNvPr id="4" name="Picture 3">
            <a:extLst>
              <a:ext uri="{FF2B5EF4-FFF2-40B4-BE49-F238E27FC236}">
                <a16:creationId xmlns:a16="http://schemas.microsoft.com/office/drawing/2014/main" id="{516C7D55-C647-9EA5-377D-94E04FA1D675}"/>
              </a:ext>
            </a:extLst>
          </p:cNvPr>
          <p:cNvPicPr>
            <a:picLocks noChangeAspect="1"/>
          </p:cNvPicPr>
          <p:nvPr/>
        </p:nvPicPr>
        <p:blipFill>
          <a:blip r:embed="rId2"/>
          <a:srcRect r="-1" b="2870"/>
          <a:stretch>
            <a:fillRect/>
          </a:stretch>
        </p:blipFill>
        <p:spPr>
          <a:xfrm>
            <a:off x="5911532" y="2484255"/>
            <a:ext cx="5150277" cy="3714244"/>
          </a:xfrm>
          <a:prstGeom prst="rect">
            <a:avLst/>
          </a:prstGeom>
        </p:spPr>
      </p:pic>
      <p:sp>
        <p:nvSpPr>
          <p:cNvPr id="21" name="Rectangle 2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409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B4813-BC2E-6BF5-8A25-FDD53B38E3A2}"/>
              </a:ext>
            </a:extLst>
          </p:cNvPr>
          <p:cNvSpPr>
            <a:spLocks noGrp="1"/>
          </p:cNvSpPr>
          <p:nvPr>
            <p:ph type="title"/>
          </p:nvPr>
        </p:nvSpPr>
        <p:spPr>
          <a:xfrm>
            <a:off x="838200" y="365125"/>
            <a:ext cx="10515600" cy="1325563"/>
          </a:xfrm>
        </p:spPr>
        <p:txBody>
          <a:bodyPr>
            <a:normAutofit/>
          </a:bodyPr>
          <a:lstStyle/>
          <a:p>
            <a:r>
              <a:rPr lang="en-AU" sz="5400" b="1" dirty="0"/>
              <a:t>Techniques to avoid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8CAEB4-511C-9C4D-3A3B-070451E632B0}"/>
              </a:ext>
            </a:extLst>
          </p:cNvPr>
          <p:cNvSpPr>
            <a:spLocks noGrp="1"/>
          </p:cNvSpPr>
          <p:nvPr>
            <p:ph idx="1"/>
          </p:nvPr>
        </p:nvSpPr>
        <p:spPr>
          <a:xfrm>
            <a:off x="838200" y="1929384"/>
            <a:ext cx="10515600" cy="4251960"/>
          </a:xfrm>
        </p:spPr>
        <p:txBody>
          <a:bodyPr>
            <a:normAutofit/>
          </a:bodyPr>
          <a:lstStyle/>
          <a:p>
            <a:r>
              <a:rPr lang="en-AU" sz="1900" b="1"/>
              <a:t>Becoming Defensive or Argumentative: </a:t>
            </a:r>
            <a:r>
              <a:rPr lang="en-AU" sz="1900"/>
              <a:t>If you notice that you start doing this, then its time to take a step back and reflect on your own stress levels. Common mistake statements “you’re wrong” “that’s not what happened”.</a:t>
            </a:r>
          </a:p>
          <a:p>
            <a:r>
              <a:rPr lang="en-AU" sz="1900" b="1"/>
              <a:t>Blaming or Accusing Language</a:t>
            </a:r>
            <a:endParaRPr lang="en-AU" sz="1900"/>
          </a:p>
          <a:p>
            <a:r>
              <a:rPr lang="en-AU" sz="1900" b="1"/>
              <a:t>Giving Unsolicited Advice Too Early: </a:t>
            </a:r>
            <a:r>
              <a:rPr lang="en-AU" sz="1900"/>
              <a:t>Remember the horse and card model I taught at the start. The core idea is that interventions (interventions as small as moving 1CM closer or asking how are you rather than being quiet) are to be lightly tested to see if they are accepted or avoided. If accepted great, test with stronger interventions after some rapport is built. But always remember the slightest hint of resistance means no more interventions other than focussing on the relationship!</a:t>
            </a:r>
          </a:p>
          <a:p>
            <a:r>
              <a:rPr lang="en-AU" sz="1900" b="1"/>
              <a:t>Interrupting or Talking Over the Person</a:t>
            </a:r>
            <a:endParaRPr lang="en-AU" sz="1900"/>
          </a:p>
          <a:p>
            <a:r>
              <a:rPr lang="en-AU" sz="1900" b="1"/>
              <a:t>Loaded questions: </a:t>
            </a:r>
            <a:r>
              <a:rPr lang="en-AU" sz="1900"/>
              <a:t>for similar reasons to leading, although great for investigation, loaded questions show task orientation rather than person centred communication, and will likely escalate the student.</a:t>
            </a:r>
          </a:p>
          <a:p>
            <a:endParaRPr lang="en-AU" sz="1900"/>
          </a:p>
        </p:txBody>
      </p:sp>
    </p:spTree>
    <p:extLst>
      <p:ext uri="{BB962C8B-B14F-4D97-AF65-F5344CB8AC3E}">
        <p14:creationId xmlns:p14="http://schemas.microsoft.com/office/powerpoint/2010/main" val="2483021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B2F611-5825-EB96-1CA7-95FB4EE6E813}"/>
              </a:ext>
            </a:extLst>
          </p:cNvPr>
          <p:cNvSpPr>
            <a:spLocks noGrp="1"/>
          </p:cNvSpPr>
          <p:nvPr>
            <p:ph type="title"/>
          </p:nvPr>
        </p:nvSpPr>
        <p:spPr>
          <a:xfrm>
            <a:off x="838200" y="365125"/>
            <a:ext cx="10515600" cy="1325563"/>
          </a:xfrm>
        </p:spPr>
        <p:txBody>
          <a:bodyPr>
            <a:normAutofit/>
          </a:bodyPr>
          <a:lstStyle/>
          <a:p>
            <a:r>
              <a:rPr lang="en-AU" sz="5400" b="1" dirty="0"/>
              <a:t>Techniques to avoid cont. </a:t>
            </a:r>
            <a:endParaRPr lang="en-AU"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C98BE2-389B-D3B7-AFCA-27B75FE9E0BD}"/>
              </a:ext>
            </a:extLst>
          </p:cNvPr>
          <p:cNvSpPr>
            <a:spLocks noGrp="1"/>
          </p:cNvSpPr>
          <p:nvPr>
            <p:ph idx="1"/>
          </p:nvPr>
        </p:nvSpPr>
        <p:spPr>
          <a:xfrm>
            <a:off x="838200" y="1929384"/>
            <a:ext cx="10515600" cy="4251960"/>
          </a:xfrm>
        </p:spPr>
        <p:txBody>
          <a:bodyPr>
            <a:normAutofit/>
          </a:bodyPr>
          <a:lstStyle/>
          <a:p>
            <a:r>
              <a:rPr lang="en-AU" sz="1700" b="1"/>
              <a:t>Leading questions (BAD For deescalation, can be good if expertly used for motivating): </a:t>
            </a:r>
            <a:r>
              <a:rPr lang="en-AU" sz="1700"/>
              <a:t>Where leading questions are used the question itself usually points to the preferred answer. Four types of leading questions: </a:t>
            </a:r>
          </a:p>
          <a:p>
            <a:pPr lvl="0"/>
            <a:r>
              <a:rPr lang="en-AU" sz="1700" b="1"/>
              <a:t>Simple leads: </a:t>
            </a:r>
            <a:r>
              <a:rPr lang="en-AU" sz="1700"/>
              <a:t>A direct question that clearly suggests the “correct” or preferred answer, often through wording that pressures agreement. “You are calm now, aren’t you?”</a:t>
            </a:r>
          </a:p>
          <a:p>
            <a:pPr lvl="1"/>
            <a:r>
              <a:rPr lang="en-AU" sz="1700"/>
              <a:t>These can make the person feel pushed into agreement rather than heard.</a:t>
            </a:r>
          </a:p>
          <a:p>
            <a:pPr lvl="0"/>
            <a:r>
              <a:rPr lang="en-AU" sz="1700" b="1"/>
              <a:t>Conversational leads:</a:t>
            </a:r>
            <a:r>
              <a:rPr lang="en-AU" sz="1700"/>
              <a:t> A more casual or natural‑sounding question that still subtly directs the answer, often framed as part of a conversation. “Wouldn’t it help if you just took a step back?”</a:t>
            </a:r>
          </a:p>
          <a:p>
            <a:pPr lvl="1"/>
            <a:r>
              <a:rPr lang="en-AU" sz="1700"/>
              <a:t>These feel friendly but still steer the response, which can limit honest expression.</a:t>
            </a:r>
          </a:p>
          <a:p>
            <a:pPr lvl="0"/>
            <a:r>
              <a:rPr lang="en-AU" sz="1700"/>
              <a:t>Implication leads: A question that suggests a conclusion by implying something about the person’s behaviour, feelings, or situation. “Why were you so upset earlier?” (implies they were overreacting). </a:t>
            </a:r>
          </a:p>
          <a:p>
            <a:pPr lvl="1"/>
            <a:r>
              <a:rPr lang="en-AU" sz="1700"/>
              <a:t>These can trigger defensiveness, escalate conflict, or make the person feel blamed</a:t>
            </a:r>
          </a:p>
          <a:p>
            <a:pPr lvl="0"/>
            <a:r>
              <a:rPr lang="en-AU" sz="1700"/>
              <a:t>Subtle leads: A less obvious form of leading question where the bias is built into wording or assumptions within the question. “What made you act that way?”  “How did you end up in this situation?”</a:t>
            </a:r>
          </a:p>
          <a:p>
            <a:pPr lvl="1"/>
            <a:r>
              <a:rPr lang="en-AU" sz="1700"/>
              <a:t>These can shape the response or unintentionally assign fault</a:t>
            </a:r>
          </a:p>
          <a:p>
            <a:endParaRPr lang="en-AU" sz="1700"/>
          </a:p>
        </p:txBody>
      </p:sp>
    </p:spTree>
    <p:extLst>
      <p:ext uri="{BB962C8B-B14F-4D97-AF65-F5344CB8AC3E}">
        <p14:creationId xmlns:p14="http://schemas.microsoft.com/office/powerpoint/2010/main" val="200627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8807E7-506F-B856-42B7-26A7B3A47242}"/>
              </a:ext>
            </a:extLst>
          </p:cNvPr>
          <p:cNvSpPr>
            <a:spLocks noGrp="1"/>
          </p:cNvSpPr>
          <p:nvPr>
            <p:ph type="title"/>
          </p:nvPr>
        </p:nvSpPr>
        <p:spPr>
          <a:xfrm>
            <a:off x="838200" y="365125"/>
            <a:ext cx="10515600" cy="1325563"/>
          </a:xfrm>
        </p:spPr>
        <p:txBody>
          <a:bodyPr>
            <a:normAutofit/>
          </a:bodyPr>
          <a:lstStyle/>
          <a:p>
            <a:r>
              <a:rPr lang="en-AU" sz="5400" b="1"/>
              <a:t>Techniques to avoid cont. </a:t>
            </a:r>
            <a:endParaRPr lang="en-AU"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B7EC2C-7EB3-7A0C-1F7B-7D6C4418BB41}"/>
              </a:ext>
            </a:extLst>
          </p:cNvPr>
          <p:cNvSpPr>
            <a:spLocks noGrp="1"/>
          </p:cNvSpPr>
          <p:nvPr>
            <p:ph idx="1"/>
          </p:nvPr>
        </p:nvSpPr>
        <p:spPr>
          <a:xfrm>
            <a:off x="838200" y="1929384"/>
            <a:ext cx="10515600" cy="4251960"/>
          </a:xfrm>
        </p:spPr>
        <p:txBody>
          <a:bodyPr>
            <a:normAutofit fontScale="92500" lnSpcReduction="10000"/>
          </a:bodyPr>
          <a:lstStyle/>
          <a:p>
            <a:r>
              <a:rPr lang="en-AU" sz="1400" b="1" dirty="0"/>
              <a:t>Minimising or Dismissing Feelings: </a:t>
            </a:r>
            <a:r>
              <a:rPr lang="en-AU" sz="1400" dirty="0"/>
              <a:t>You have no idea what current/past stressors someone has been through and it doesn’t matter what your scale of bad is, the distressed student is currently having a bad time. Common mistake statements “its not a big deal” or “you’re overthinking it”. </a:t>
            </a:r>
          </a:p>
          <a:p>
            <a:r>
              <a:rPr lang="en-AU" sz="1400" b="1" dirty="0"/>
              <a:t>Overloading with Information or Logic: </a:t>
            </a:r>
            <a:r>
              <a:rPr lang="en-AU" sz="1400" dirty="0"/>
              <a:t>Avoid long explanations, trying to “Reason them out” of emotions. Long explanations are fine once rapport is solidly built, and you are in chain intervention mode! But only if the interventions are well received genuinely, not just submissively!</a:t>
            </a:r>
          </a:p>
          <a:p>
            <a:r>
              <a:rPr lang="en-AU" sz="1400" b="1" dirty="0"/>
              <a:t>Showing Impatience (Verbal or Non-Verbal): </a:t>
            </a:r>
            <a:r>
              <a:rPr lang="en-AU" sz="1400" dirty="0" err="1"/>
              <a:t>Eg.</a:t>
            </a:r>
            <a:r>
              <a:rPr lang="en-AU" sz="1400" dirty="0"/>
              <a:t> Sighing, checking watch, rushing responses. It is perfectly fine to set boundaries as we spoke about in the workshop. Say you had a strict leaving time, inform the student you need to check your watch as you have a meeting you cannot miss, even better if you set your boundaries if very time limited early. This will show the student that you dedicated maximum possible time to them. Imagine not telling them, always checking your watch, then abruptly leaving, how will they feel? How would you feel?</a:t>
            </a:r>
          </a:p>
          <a:p>
            <a:r>
              <a:rPr lang="en-AU" sz="1400" b="1" dirty="0"/>
              <a:t>Talking about the news or world events: </a:t>
            </a:r>
            <a:r>
              <a:rPr lang="en-AU" sz="1400" dirty="0"/>
              <a:t>Especially considering all the wars going on, small talk surrounding news serves no purpose and has a decently high risk of escalating someone with no real benefit other than filling social gaps. It’s better to just be silent than talk news. </a:t>
            </a:r>
          </a:p>
          <a:p>
            <a:r>
              <a:rPr lang="en-AU" sz="1400" b="1" dirty="0"/>
              <a:t>The urge of the “Righting Reflex”: </a:t>
            </a:r>
            <a:r>
              <a:rPr lang="en-AU" sz="1400" dirty="0"/>
              <a:t>Being right or correcting only serves your needs, the focus should be listening for what the student says. Often incorrect information they produce can be highly valuable side channel information about their distress. </a:t>
            </a:r>
          </a:p>
          <a:p>
            <a:r>
              <a:rPr lang="en-AU" sz="1400" b="1" dirty="0"/>
              <a:t>Using Threats or Authority to Control: </a:t>
            </a:r>
            <a:r>
              <a:rPr lang="en-AU" sz="1400" dirty="0"/>
              <a:t>Eg “If you don’t calm down, I’ll…”</a:t>
            </a:r>
          </a:p>
          <a:p>
            <a:r>
              <a:rPr lang="en-AU" sz="1400" b="1" dirty="0"/>
              <a:t>Vibing the situation/Acting on gut feeling alone: </a:t>
            </a:r>
            <a:r>
              <a:rPr lang="en-GB" sz="1400" dirty="0"/>
              <a:t>Relying purely on “vibes” or gut feelings is not a safe or professional basis for decision-making. While intuition can alert us that something may be wrong, actions should be guided by observable changes, context, and clear risk indicators rather than assumptions. Acting without evidence can unintentionally stigmatise a student or escalate a situation unnecessarily, whereas failing to act when genuine risk is present can have serious consequences. The aim is to balance awareness with professionalism - if there is credible risk, act immediately, if there is only uncertainty, observe, seek clarity, and gather more information. In practice, professional judgement is not about being right, it is about being safe, fair, and responsive to what can be clearly observed.</a:t>
            </a:r>
            <a:endParaRPr lang="en-AU" sz="1400" dirty="0"/>
          </a:p>
        </p:txBody>
      </p:sp>
    </p:spTree>
    <p:extLst>
      <p:ext uri="{BB962C8B-B14F-4D97-AF65-F5344CB8AC3E}">
        <p14:creationId xmlns:p14="http://schemas.microsoft.com/office/powerpoint/2010/main" val="2762273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2968</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Interventions</vt:lpstr>
      <vt:lpstr>Window of tolerance</vt:lpstr>
      <vt:lpstr>Window of tolerance cont. </vt:lpstr>
      <vt:lpstr>Verbal interventions – active listening </vt:lpstr>
      <vt:lpstr>Verbal techniques (communication and deescalation) </vt:lpstr>
      <vt:lpstr>Verbal techniques (communication and deescalation) cont. </vt:lpstr>
      <vt:lpstr>Verbal techniques (communication and deescalation) cont. </vt:lpstr>
      <vt:lpstr>Verbal techniques (communication and deescalation) cont. </vt:lpstr>
      <vt:lpstr>Motivational interviewing (Basic version) (EXPERT LEVEL REQUIREMENT)</vt:lpstr>
      <vt:lpstr>Motivational interviewing cont. </vt:lpstr>
      <vt:lpstr>Motivational interviewing techniques (in short) </vt:lpstr>
      <vt:lpstr>Some verbal techniques for low mood/depression/anxiety/stress (somewhat advanced but good to know)</vt:lpstr>
      <vt:lpstr>Nonverbal techniques (communication and deescalation) </vt:lpstr>
      <vt:lpstr>Nonverbal techniques cont.</vt:lpstr>
      <vt:lpstr>Techniques to avoid </vt:lpstr>
      <vt:lpstr>Techniques to avoid cont. </vt:lpstr>
      <vt:lpstr>Techniques to avoid cont.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Reuben Burman</dc:creator>
  <cp:lastModifiedBy>Reuben Burman</cp:lastModifiedBy>
  <cp:revision>3</cp:revision>
  <dcterms:created xsi:type="dcterms:W3CDTF">2026-05-13T08:27:13Z</dcterms:created>
  <dcterms:modified xsi:type="dcterms:W3CDTF">2026-05-13T10:17:24Z</dcterms:modified>
</cp:coreProperties>
</file>
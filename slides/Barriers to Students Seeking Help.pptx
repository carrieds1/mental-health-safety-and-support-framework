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10BA-EDF7-0D61-129F-8BBFF101E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4953E-2CE0-53FC-DE82-341A39981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4529B-2612-4E71-CF8C-4C3AD04E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F163A-2192-97C6-DDCF-CD2F84957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6318E-111C-9C52-FC94-2149EEE0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2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2B876-8849-C240-163D-4F0E9D3F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BEA19-7089-8944-60D6-FCA789FB9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617F7-BA99-7191-431D-4F20D310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E5C1-9466-5DBE-8F33-6FE4855A5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B05BE-8093-1BC2-4CA4-B8F8CA20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51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0B6A-7BC1-D6A1-06B3-E053FC092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ACDAD-E8C4-B9A7-E9C7-3F363AB9D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2976C-C0C4-E617-F864-11AD555E5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2FCD4-854A-DF59-FDF9-1E035181D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FE53D-014C-7FF0-4F31-B4FB6960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736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FB3F-22D9-3F4C-E5A1-466B54F6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DA2A6-153B-46EF-1B4E-06FE72542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B8866-20FA-3519-AC03-D1CBE5D72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F37D-6702-B0FC-1985-37344CC7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D7D01-1B97-5F7D-CE83-679572E9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53C85-19FD-1D14-FDBE-E2CA557D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65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7481-79DA-9093-C768-B3E4547CB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2882F-905A-F723-E41B-DFF6D3E03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AF95B-C7E9-FFF5-5624-1BB88FF46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AAA38-AB86-9D73-7769-994D40741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E118F-9EB9-2344-F947-B1ED2BCAC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7C238-1B8B-B367-5CA9-68D2457D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640E1-3D44-4561-FB8C-C3FA97ABC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499F0C-7091-1735-7C74-6BDD408E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761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DEFA-2E3B-0406-3A6F-31D24C79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C7B2F-CBA7-2A73-EC77-1DAB2E45A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5CF03-475E-E6AC-A26F-DA60B150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4DC3B-A65A-CB21-CF61-2E613CCC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0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1F7E5-CCD3-5CD0-B4D5-B38E8884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1C913-9290-6CAB-2042-CB7AFCBD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C37E2-2F71-8765-4090-06977508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941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DD0C-0DA0-C211-434F-577F166C7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63084-D2E2-47C2-8F04-EF535EEB5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D0CBF-DF0B-CA89-808A-AEC9FB63E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CD0F2-F64A-1634-ADC2-AE5F02A7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B4A9D-FBE8-7EBF-ED45-0DCDEF04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6A7D6-F869-F941-F08F-759C5C1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2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C675-91A8-9DB5-B2D2-5D8AA7B4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3327A-E73D-456D-2353-303534806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0D326-8BCF-4AF2-233A-4F3ABC973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3416C-F9A7-070D-4AE9-EF0E0E247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A81C6-8D94-2C6B-6EB4-07132C81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106A7-6447-9932-681A-88785BB2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97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3972-2AC3-5C0C-D57A-573D95D2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D707C-8951-560B-C6FC-4398DEE04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31CD2-A133-C00F-2A77-08ACF1408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1EC0-DE9B-1705-7AF4-C978F7F2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7B781-7CEE-0C30-C63B-BEDB5B33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734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C8F051-A53C-D476-F6C6-066C80116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D116D-2202-0C09-A49E-53B820B72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958F-4C0E-A511-DAAC-E592149E3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26620-50A3-68EE-945B-90349E63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641EA-DB01-A057-4992-BACBA202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2032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D9833-A7C5-4F63-6D13-C63E04F7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99739-6DED-1812-93A9-94954C464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C5F81-AA6A-F83C-8DE5-139FBD32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BDDAA-D45F-42D0-B4C8-C5C062EF1212}" type="datetimeFigureOut">
              <a:rPr lang="en-AU" smtClean="0"/>
              <a:t>13/05/2026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6E685-A622-81D1-20A5-C80024BA5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B6CE6-3DB4-4B51-9A2E-35EE6CC83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226CD-9A89-432A-AA5E-C1A822AD51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353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A7BB031-683B-11FD-C861-59284C8B9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GB" sz="4400">
                <a:solidFill>
                  <a:schemeClr val="tx2"/>
                </a:solidFill>
                <a:effectLst/>
              </a:rPr>
              <a:t>Barriers to Students Seeking Help and What to Look Out For</a:t>
            </a:r>
            <a:endParaRPr lang="en-AU" sz="440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869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8CCC22A-EEB8-A824-B63A-8302031ED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AU" sz="3600">
                <a:solidFill>
                  <a:schemeClr val="tx2"/>
                </a:solidFill>
                <a:effectLst/>
              </a:rPr>
              <a:t>Why this matters?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0B028-D990-1CEF-6B29-BD9651E39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ffectLst/>
              </a:rPr>
              <a:t>Many students who need help won’t ask for it directly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Distress is often hidden, minimised, or misinterpreted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Your role is to: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Notice changes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Respond supportively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Escalate when needed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You are not expected to diagnose, only to recognise and respond</a:t>
            </a:r>
            <a:endParaRPr lang="en-AU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7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0D1FE83-7F13-1040-5BC8-E2048DD2B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AU" sz="3600">
                <a:solidFill>
                  <a:schemeClr val="tx2"/>
                </a:solidFill>
                <a:effectLst/>
              </a:rPr>
              <a:t>Help-seeking is not automatic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671E-16DE-3AB1-D196-6BE2018EB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  <a:effectLst/>
              </a:rPr>
              <a:t>Students don’t avoid help because they’re “fine”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They avoid help because of barriers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These barriers are: </a:t>
            </a:r>
          </a:p>
          <a:p>
            <a:pPr lvl="1"/>
            <a:r>
              <a:rPr lang="en-GB" sz="1800" b="1" dirty="0">
                <a:solidFill>
                  <a:schemeClr val="tx2"/>
                </a:solidFill>
                <a:effectLst/>
              </a:rPr>
              <a:t>Internal </a:t>
            </a:r>
          </a:p>
          <a:p>
            <a:pPr lvl="1"/>
            <a:r>
              <a:rPr lang="en-GB" sz="1800" b="1" dirty="0">
                <a:solidFill>
                  <a:schemeClr val="tx2"/>
                </a:solidFill>
                <a:effectLst/>
              </a:rPr>
              <a:t>Social </a:t>
            </a:r>
          </a:p>
          <a:p>
            <a:pPr lvl="1"/>
            <a:r>
              <a:rPr lang="en-GB" sz="1800" b="1" dirty="0">
                <a:solidFill>
                  <a:schemeClr val="tx2"/>
                </a:solidFill>
                <a:effectLst/>
              </a:rPr>
              <a:t>Structural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If you remove barriers -&gt; help-seeking increases</a:t>
            </a:r>
            <a:endParaRPr lang="en-AU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80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7704B7-35B9-A3F2-3BB0-2D172B6A9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AU" sz="3600">
                <a:solidFill>
                  <a:schemeClr val="tx2"/>
                </a:solidFill>
                <a:effectLst/>
              </a:rPr>
              <a:t>Internal (psychological) barriers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48C37-B5D1-7571-700E-51C5EA8DE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ffectLst/>
              </a:rPr>
              <a:t>Shame / stigma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“Something is wrong with me”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Minimisation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“It’s not that bad”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Fear of consequences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Academic penalties, being judged Low self-worth “I don’t deserve help”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Difficulty recognising distress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Especially in high-performing students</a:t>
            </a:r>
            <a:endParaRPr lang="en-AU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34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CC4167-67A8-B37E-E436-C52ECE751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AU" sz="3600">
                <a:solidFill>
                  <a:schemeClr val="tx2"/>
                </a:solidFill>
                <a:effectLst/>
              </a:rPr>
              <a:t>Social Barriers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05BD-A2A0-3A5F-F7C5-B8010100B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ffectLst/>
              </a:rPr>
              <a:t>Fear of being seen as: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Weak, incompetent, “not cut out for CS”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Comparison culture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“Everyone else is coping”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Cultural factors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Mental health not openly discussed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Lack of trust in authority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“Staff won’t understand”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Previous negative experiences</a:t>
            </a:r>
            <a:endParaRPr lang="en-AU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1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1742500-8CE3-51CF-D886-00974AE4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AU" sz="3600">
                <a:solidFill>
                  <a:schemeClr val="tx2"/>
                </a:solidFill>
                <a:effectLst/>
              </a:rPr>
              <a:t>Structural Barriers (VERY important)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6D1A0-E372-A3A3-34BE-809C0538E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  <a:effectLst/>
              </a:rPr>
              <a:t>Time pressure </a:t>
            </a:r>
          </a:p>
          <a:p>
            <a:pPr lvl="1"/>
            <a:r>
              <a:rPr lang="en-GB" sz="1800" dirty="0">
                <a:solidFill>
                  <a:schemeClr val="tx2"/>
                </a:solidFill>
                <a:effectLst/>
              </a:rPr>
              <a:t>Deadlines &gt; wellbeing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Access issues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Long wait times for services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Financial concerns </a:t>
            </a:r>
          </a:p>
          <a:p>
            <a:pPr lvl="1"/>
            <a:r>
              <a:rPr lang="en-GB" sz="1800" dirty="0">
                <a:solidFill>
                  <a:schemeClr val="tx2"/>
                </a:solidFill>
              </a:rPr>
              <a:t>Especially for international students</a:t>
            </a:r>
            <a:endParaRPr lang="en-GB" sz="1800" dirty="0">
              <a:solidFill>
                <a:schemeClr val="tx2"/>
              </a:solidFill>
              <a:effectLst/>
            </a:endParaRP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Unclear pathways </a:t>
            </a:r>
          </a:p>
          <a:p>
            <a:pPr lvl="1"/>
            <a:r>
              <a:rPr lang="en-GB" sz="1800" dirty="0">
                <a:solidFill>
                  <a:schemeClr val="tx2"/>
                </a:solidFill>
                <a:effectLst/>
              </a:rPr>
              <a:t>“I don’t know where to go”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Complex systems </a:t>
            </a:r>
          </a:p>
          <a:p>
            <a:pPr lvl="1"/>
            <a:r>
              <a:rPr lang="en-GB" sz="1800" dirty="0">
                <a:solidFill>
                  <a:schemeClr val="tx2"/>
                </a:solidFill>
                <a:effectLst/>
              </a:rPr>
              <a:t>Forms, referrals, admin barriers</a:t>
            </a:r>
            <a:endParaRPr lang="en-AU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87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A54748-154D-9693-E17B-FE679C31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chemeClr val="tx2"/>
                </a:solidFill>
                <a:effectLst/>
              </a:rPr>
              <a:t>What this means for us</a:t>
            </a:r>
            <a:endParaRPr lang="en-AU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E4D86-914A-79DC-B089-933560702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ffectLst/>
              </a:rPr>
              <a:t>Students often: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Delay help-seeking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Mask distress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Present only when overwhelmed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The student who needs help most is often the least likely to ask</a:t>
            </a:r>
            <a:endParaRPr lang="en-AU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873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D94BC49-F8C7-937C-4F9C-C30ACF33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 sz="3100">
                <a:solidFill>
                  <a:schemeClr val="tx2"/>
                </a:solidFill>
                <a:effectLst/>
              </a:rPr>
              <a:t>What to look for (simple model – golden rules goes much more in depth and has less over generalisation)</a:t>
            </a:r>
            <a:endParaRPr lang="en-AU" sz="31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A83DD-3AF4-F3D5-FE08-6924106C7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AU" sz="1800">
                <a:solidFill>
                  <a:schemeClr val="tx2"/>
                </a:solidFill>
                <a:effectLst/>
              </a:rPr>
              <a:t>Engagement </a:t>
            </a:r>
          </a:p>
          <a:p>
            <a:pPr lvl="1"/>
            <a:r>
              <a:rPr lang="en-AU" sz="1800">
                <a:solidFill>
                  <a:schemeClr val="tx2"/>
                </a:solidFill>
                <a:effectLst/>
              </a:rPr>
              <a:t>Engaged -&gt; withdrawn </a:t>
            </a:r>
          </a:p>
          <a:p>
            <a:r>
              <a:rPr lang="en-AU" sz="1800">
                <a:solidFill>
                  <a:schemeClr val="tx2"/>
                </a:solidFill>
                <a:effectLst/>
              </a:rPr>
              <a:t>Behaviour </a:t>
            </a:r>
          </a:p>
          <a:p>
            <a:pPr lvl="1"/>
            <a:r>
              <a:rPr lang="en-AU" sz="1800">
                <a:solidFill>
                  <a:schemeClr val="tx2"/>
                </a:solidFill>
                <a:effectLst/>
              </a:rPr>
              <a:t>Cooperative </a:t>
            </a:r>
            <a:r>
              <a:rPr lang="en-AU" sz="1800">
                <a:solidFill>
                  <a:schemeClr val="tx2"/>
                </a:solidFill>
              </a:rPr>
              <a:t>-&gt;</a:t>
            </a:r>
            <a:r>
              <a:rPr lang="en-AU" sz="1800">
                <a:solidFill>
                  <a:schemeClr val="tx2"/>
                </a:solidFill>
                <a:effectLst/>
              </a:rPr>
              <a:t> resistant or shutdown </a:t>
            </a:r>
          </a:p>
          <a:p>
            <a:r>
              <a:rPr lang="en-AU" sz="1800">
                <a:solidFill>
                  <a:schemeClr val="tx2"/>
                </a:solidFill>
                <a:effectLst/>
              </a:rPr>
              <a:t>Communication </a:t>
            </a:r>
          </a:p>
          <a:p>
            <a:pPr lvl="1"/>
            <a:r>
              <a:rPr lang="en-AU" sz="1800">
                <a:solidFill>
                  <a:schemeClr val="tx2"/>
                </a:solidFill>
                <a:effectLst/>
              </a:rPr>
              <a:t>Clear -&gt; short / disorganised </a:t>
            </a:r>
          </a:p>
          <a:p>
            <a:r>
              <a:rPr lang="en-AU" sz="1800">
                <a:solidFill>
                  <a:schemeClr val="tx2"/>
                </a:solidFill>
                <a:effectLst/>
              </a:rPr>
              <a:t>Effort </a:t>
            </a:r>
          </a:p>
          <a:p>
            <a:pPr lvl="1"/>
            <a:r>
              <a:rPr lang="en-AU" sz="1800">
                <a:solidFill>
                  <a:schemeClr val="tx2"/>
                </a:solidFill>
                <a:effectLst/>
              </a:rPr>
              <a:t>Consistent -&gt; sudden drop </a:t>
            </a:r>
          </a:p>
          <a:p>
            <a:r>
              <a:rPr lang="en-AU" sz="1800">
                <a:solidFill>
                  <a:schemeClr val="tx2"/>
                </a:solidFill>
                <a:effectLst/>
              </a:rPr>
              <a:t>Behaviour is signal, not problem</a:t>
            </a:r>
            <a:endParaRPr lang="en-AU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749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8DCB1C-7B95-4C2A-9885-1B6724CD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chemeClr val="tx2"/>
                </a:solidFill>
                <a:effectLst/>
              </a:rPr>
              <a:t>Common early warning signs</a:t>
            </a:r>
            <a:endParaRPr lang="en-AU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84DF2-3FE6-407A-923F-87E62E6E0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ffectLst/>
              </a:rPr>
              <a:t>Sudden drop in submission / performance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Increased avoidance (not attending, not replying)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Unusual emotional reactions (overreaction or flatness)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Increased frustration or agitation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Appearing “fine” but disengaged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“I’m fine” != fine</a:t>
            </a:r>
            <a:endParaRPr lang="en-AU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275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908A12-738F-84DF-2080-85BEA533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chemeClr val="tx2"/>
                </a:solidFill>
                <a:effectLst/>
              </a:rPr>
              <a:t>When to escalate</a:t>
            </a:r>
            <a:endParaRPr lang="en-AU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75482-FD99-8653-FB9B-3FA2F4C0F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GB" sz="1800" dirty="0">
                <a:solidFill>
                  <a:schemeClr val="tx2"/>
                </a:solidFill>
                <a:effectLst/>
              </a:rPr>
              <a:t>Mentions of: </a:t>
            </a:r>
          </a:p>
          <a:p>
            <a:pPr lvl="1"/>
            <a:r>
              <a:rPr lang="en-GB" sz="1800" dirty="0">
                <a:solidFill>
                  <a:schemeClr val="tx2"/>
                </a:solidFill>
                <a:effectLst/>
              </a:rPr>
              <a:t>Self-harm or suicide </a:t>
            </a:r>
          </a:p>
          <a:p>
            <a:pPr lvl="1"/>
            <a:r>
              <a:rPr lang="en-GB" sz="1800" dirty="0">
                <a:solidFill>
                  <a:schemeClr val="tx2"/>
                </a:solidFill>
                <a:effectLst/>
              </a:rPr>
              <a:t>Wanting to disappear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Extreme distress or overwhelm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Significant behavioural change + impairment 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Signs of physical medical risk (chest/heart pain)</a:t>
            </a:r>
          </a:p>
          <a:p>
            <a:r>
              <a:rPr lang="en-GB" sz="1800" dirty="0">
                <a:solidFill>
                  <a:schemeClr val="tx2"/>
                </a:solidFill>
                <a:effectLst/>
              </a:rPr>
              <a:t>If unsure: escalate, safety &gt; certainty</a:t>
            </a:r>
            <a:endParaRPr lang="en-AU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836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D92A61-EF00-7E6A-ECB3-F8A74AB8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  <a:effectLst/>
              </a:rPr>
              <a:t>What helps students seek help</a:t>
            </a:r>
            <a:endParaRPr lang="en-AU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3C8AC-6F23-FCFB-D688-C1D6BB3C0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GB" sz="1800">
                <a:solidFill>
                  <a:schemeClr val="tx2"/>
                </a:solidFill>
                <a:effectLst/>
              </a:rPr>
              <a:t>Normalise struggle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“This happens to a lot of students”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Be approachable and calm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Ask simple, direct questions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“How are you going with everything?”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Reduce friction </a:t>
            </a:r>
          </a:p>
          <a:p>
            <a:pPr lvl="1"/>
            <a:r>
              <a:rPr lang="en-GB" sz="1800">
                <a:solidFill>
                  <a:schemeClr val="tx2"/>
                </a:solidFill>
                <a:effectLst/>
              </a:rPr>
              <a:t>Point them clearly to services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Follow up where appropriate </a:t>
            </a:r>
          </a:p>
          <a:p>
            <a:r>
              <a:rPr lang="en-GB" sz="1800">
                <a:solidFill>
                  <a:schemeClr val="tx2"/>
                </a:solidFill>
                <a:effectLst/>
              </a:rPr>
              <a:t>Small interactions reduce big barriers</a:t>
            </a:r>
            <a:endParaRPr lang="en-AU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456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82E551-14F0-87AE-E4F4-43460090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Students don’t need perfect support - they need accessible, human support</a:t>
            </a:r>
            <a:endParaRPr lang="en-US" sz="40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969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446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Barriers to Students Seeking Help and What to Look Out For</vt:lpstr>
      <vt:lpstr>Why this matters?</vt:lpstr>
      <vt:lpstr>Help-seeking is not automatic</vt:lpstr>
      <vt:lpstr>Internal (psychological) barriers</vt:lpstr>
      <vt:lpstr>Social Barriers</vt:lpstr>
      <vt:lpstr>Structural Barriers (VERY important)</vt:lpstr>
      <vt:lpstr>What this means for us</vt:lpstr>
      <vt:lpstr>What to look for (simple model – golden rules goes much more in depth and has less over generalisation)</vt:lpstr>
      <vt:lpstr>Common early warning signs</vt:lpstr>
      <vt:lpstr>When to escalate</vt:lpstr>
      <vt:lpstr>What helps students seek help</vt:lpstr>
      <vt:lpstr>Students don’t need perfect support - they need accessible, human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Reuben Burman</dc:creator>
  <cp:lastModifiedBy>Reuben Burman</cp:lastModifiedBy>
  <cp:revision>1</cp:revision>
  <dcterms:created xsi:type="dcterms:W3CDTF">2026-05-13T10:24:36Z</dcterms:created>
  <dcterms:modified xsi:type="dcterms:W3CDTF">2026-05-13T10:40:01Z</dcterms:modified>
</cp:coreProperties>
</file>
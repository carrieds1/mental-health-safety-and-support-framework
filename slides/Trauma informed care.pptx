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6" autoAdjust="0"/>
    <p:restoredTop sz="94660"/>
  </p:normalViewPr>
  <p:slideViewPr>
    <p:cSldViewPr snapToGrid="0">
      <p:cViewPr varScale="1">
        <p:scale>
          <a:sx n="102" d="100"/>
          <a:sy n="102" d="100"/>
        </p:scale>
        <p:origin x="96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5" Type="http://schemas.openxmlformats.org/officeDocument/2006/relationships/image" Target="../media/image5.svg"/><Relationship Id="rId4" Type="http://schemas.openxmlformats.org/officeDocument/2006/relationships/image" Target="../media/image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5" Type="http://schemas.openxmlformats.org/officeDocument/2006/relationships/image" Target="../media/image5.sv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9CFB819-26F3-46DD-9BD8-B868D40F8AE8}"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150392C8-7E08-49BF-956D-FB7E1FC68F13}">
      <dgm:prSet/>
      <dgm:spPr/>
      <dgm:t>
        <a:bodyPr/>
        <a:lstStyle/>
        <a:p>
          <a:r>
            <a:rPr lang="en-AU"/>
            <a:t>To this day the dominant approach is the biomedical approach (diagnoses and treatment)</a:t>
          </a:r>
          <a:endParaRPr lang="en-US"/>
        </a:p>
      </dgm:t>
    </dgm:pt>
    <dgm:pt modelId="{456D91A3-7378-487C-9A47-2402F0CA883C}" type="parTrans" cxnId="{56C73B5D-D0ED-44FB-B471-F690262B34EA}">
      <dgm:prSet/>
      <dgm:spPr/>
      <dgm:t>
        <a:bodyPr/>
        <a:lstStyle/>
        <a:p>
          <a:endParaRPr lang="en-US"/>
        </a:p>
      </dgm:t>
    </dgm:pt>
    <dgm:pt modelId="{DD7B1232-ABF3-4BC0-ADDC-AE0B5F744426}" type="sibTrans" cxnId="{56C73B5D-D0ED-44FB-B471-F690262B34EA}">
      <dgm:prSet/>
      <dgm:spPr/>
      <dgm:t>
        <a:bodyPr/>
        <a:lstStyle/>
        <a:p>
          <a:endParaRPr lang="en-US"/>
        </a:p>
      </dgm:t>
    </dgm:pt>
    <dgm:pt modelId="{E36A098C-E603-43E4-A5C8-F46EA40B28E6}">
      <dgm:prSet/>
      <dgm:spPr/>
      <dgm:t>
        <a:bodyPr/>
        <a:lstStyle/>
        <a:p>
          <a:r>
            <a:rPr lang="en-AU" dirty="0"/>
            <a:t>This has evidenced based poor-efficacy (when used alone)</a:t>
          </a:r>
          <a:endParaRPr lang="en-US" dirty="0"/>
        </a:p>
      </dgm:t>
    </dgm:pt>
    <dgm:pt modelId="{C37D9FA3-AC3B-4087-BFC3-0E01D9FFC3C4}" type="parTrans" cxnId="{DC71969E-FE5B-480F-B3AC-50EA14003807}">
      <dgm:prSet/>
      <dgm:spPr/>
      <dgm:t>
        <a:bodyPr/>
        <a:lstStyle/>
        <a:p>
          <a:endParaRPr lang="en-US"/>
        </a:p>
      </dgm:t>
    </dgm:pt>
    <dgm:pt modelId="{2F54FD5C-30C9-46CA-8C6F-E1DB43B0E07D}" type="sibTrans" cxnId="{DC71969E-FE5B-480F-B3AC-50EA14003807}">
      <dgm:prSet/>
      <dgm:spPr/>
      <dgm:t>
        <a:bodyPr/>
        <a:lstStyle/>
        <a:p>
          <a:endParaRPr lang="en-US"/>
        </a:p>
      </dgm:t>
    </dgm:pt>
    <dgm:pt modelId="{E02247AF-0DED-41B8-9CFA-1CDFB9445B4A}">
      <dgm:prSet/>
      <dgm:spPr/>
      <dgm:t>
        <a:bodyPr/>
        <a:lstStyle/>
        <a:p>
          <a:r>
            <a:rPr lang="en-AU" dirty="0" err="1"/>
            <a:t>Eg.</a:t>
          </a:r>
          <a:r>
            <a:rPr lang="en-AU" dirty="0"/>
            <a:t> Getting a diagnosis/label often comes with short term relief </a:t>
          </a:r>
          <a:endParaRPr lang="en-US" dirty="0"/>
        </a:p>
      </dgm:t>
    </dgm:pt>
    <dgm:pt modelId="{F16EB90C-D0A6-4E62-BC72-4371B146C0E9}" type="parTrans" cxnId="{E0C02A72-27C2-41F7-97AB-231BCABB405A}">
      <dgm:prSet/>
      <dgm:spPr/>
      <dgm:t>
        <a:bodyPr/>
        <a:lstStyle/>
        <a:p>
          <a:endParaRPr lang="en-US"/>
        </a:p>
      </dgm:t>
    </dgm:pt>
    <dgm:pt modelId="{93E5BC2D-9D7E-41BB-9548-741C6D0A9C3F}" type="sibTrans" cxnId="{E0C02A72-27C2-41F7-97AB-231BCABB405A}">
      <dgm:prSet/>
      <dgm:spPr/>
      <dgm:t>
        <a:bodyPr/>
        <a:lstStyle/>
        <a:p>
          <a:endParaRPr lang="en-US"/>
        </a:p>
      </dgm:t>
    </dgm:pt>
    <dgm:pt modelId="{D1248E35-F254-4E5C-8657-1A7F2BB99049}">
      <dgm:prSet/>
      <dgm:spPr/>
      <dgm:t>
        <a:bodyPr/>
        <a:lstStyle/>
        <a:p>
          <a:r>
            <a:rPr lang="en-AU"/>
            <a:t>“OH now so much of my life makes sense”</a:t>
          </a:r>
          <a:endParaRPr lang="en-US"/>
        </a:p>
      </dgm:t>
    </dgm:pt>
    <dgm:pt modelId="{636E19E5-A1EC-4521-A034-768A77859D45}" type="parTrans" cxnId="{0E9691F3-AA3B-40EC-91D2-BBCEBE995604}">
      <dgm:prSet/>
      <dgm:spPr/>
      <dgm:t>
        <a:bodyPr/>
        <a:lstStyle/>
        <a:p>
          <a:endParaRPr lang="en-US"/>
        </a:p>
      </dgm:t>
    </dgm:pt>
    <dgm:pt modelId="{E73FA06B-A143-4952-87D8-71984FE008E5}" type="sibTrans" cxnId="{0E9691F3-AA3B-40EC-91D2-BBCEBE995604}">
      <dgm:prSet/>
      <dgm:spPr/>
      <dgm:t>
        <a:bodyPr/>
        <a:lstStyle/>
        <a:p>
          <a:endParaRPr lang="en-US"/>
        </a:p>
      </dgm:t>
    </dgm:pt>
    <dgm:pt modelId="{EE3CE29F-21FB-43EF-AF7F-87FAC6DC0877}">
      <dgm:prSet/>
      <dgm:spPr/>
      <dgm:t>
        <a:bodyPr/>
        <a:lstStyle/>
        <a:p>
          <a:r>
            <a:rPr lang="en-AU" dirty="0"/>
            <a:t>Which is then shortly followed by</a:t>
          </a:r>
          <a:endParaRPr lang="en-US" dirty="0"/>
        </a:p>
      </dgm:t>
    </dgm:pt>
    <dgm:pt modelId="{25FC5608-ACE5-4129-B731-652945B6F7F7}" type="parTrans" cxnId="{B27E5C20-C5B0-4E23-A9DC-600166735CEE}">
      <dgm:prSet/>
      <dgm:spPr/>
      <dgm:t>
        <a:bodyPr/>
        <a:lstStyle/>
        <a:p>
          <a:endParaRPr lang="en-US"/>
        </a:p>
      </dgm:t>
    </dgm:pt>
    <dgm:pt modelId="{976D2AFB-7A73-40BB-98D1-61D46C6F6C44}" type="sibTrans" cxnId="{B27E5C20-C5B0-4E23-A9DC-600166735CEE}">
      <dgm:prSet/>
      <dgm:spPr/>
      <dgm:t>
        <a:bodyPr/>
        <a:lstStyle/>
        <a:p>
          <a:endParaRPr lang="en-US"/>
        </a:p>
      </dgm:t>
    </dgm:pt>
    <dgm:pt modelId="{C82E879E-AB50-46A1-AE07-2D80B98821AB}">
      <dgm:prSet/>
      <dgm:spPr/>
      <dgm:t>
        <a:bodyPr/>
        <a:lstStyle/>
        <a:p>
          <a:r>
            <a:rPr lang="en-AU"/>
            <a:t>“OH this is why my life sucks”</a:t>
          </a:r>
          <a:endParaRPr lang="en-US"/>
        </a:p>
      </dgm:t>
    </dgm:pt>
    <dgm:pt modelId="{771A5C96-7472-44A7-BE18-3D83163B523E}" type="parTrans" cxnId="{9E9B7499-FA00-4D82-821C-87C899669D12}">
      <dgm:prSet/>
      <dgm:spPr/>
      <dgm:t>
        <a:bodyPr/>
        <a:lstStyle/>
        <a:p>
          <a:endParaRPr lang="en-US"/>
        </a:p>
      </dgm:t>
    </dgm:pt>
    <dgm:pt modelId="{966E0213-7F7D-45C9-907C-043BC25E04FE}" type="sibTrans" cxnId="{9E9B7499-FA00-4D82-821C-87C899669D12}">
      <dgm:prSet/>
      <dgm:spPr/>
      <dgm:t>
        <a:bodyPr/>
        <a:lstStyle/>
        <a:p>
          <a:endParaRPr lang="en-US"/>
        </a:p>
      </dgm:t>
    </dgm:pt>
    <dgm:pt modelId="{FCA62F90-3F53-4E54-BF0B-417A1CA5A8CE}">
      <dgm:prSet/>
      <dgm:spPr/>
      <dgm:t>
        <a:bodyPr/>
        <a:lstStyle/>
        <a:p>
          <a:r>
            <a:rPr lang="en-AU" dirty="0"/>
            <a:t>And psychopharmaceutical drugs (particularly antidepressants) very much like getting a diagnosis, shows great short-term efficacy (we are talking weeks-months), but poor long term. </a:t>
          </a:r>
          <a:endParaRPr lang="en-US" dirty="0"/>
        </a:p>
      </dgm:t>
    </dgm:pt>
    <dgm:pt modelId="{AF27C683-D682-4C06-9CBC-3DB5B6066BDF}" type="parTrans" cxnId="{8D814E3B-A36E-4E6E-89F1-B523EA488F41}">
      <dgm:prSet/>
      <dgm:spPr/>
      <dgm:t>
        <a:bodyPr/>
        <a:lstStyle/>
        <a:p>
          <a:endParaRPr lang="en-US"/>
        </a:p>
      </dgm:t>
    </dgm:pt>
    <dgm:pt modelId="{2F3E0DB6-7E45-4F85-A915-A2333BDE0169}" type="sibTrans" cxnId="{8D814E3B-A36E-4E6E-89F1-B523EA488F41}">
      <dgm:prSet/>
      <dgm:spPr/>
      <dgm:t>
        <a:bodyPr/>
        <a:lstStyle/>
        <a:p>
          <a:endParaRPr lang="en-US"/>
        </a:p>
      </dgm:t>
    </dgm:pt>
    <dgm:pt modelId="{DF3EEAF3-2CFB-4052-992E-894128AEB5ED}">
      <dgm:prSet/>
      <dgm:spPr/>
      <dgm:t>
        <a:bodyPr/>
        <a:lstStyle/>
        <a:p>
          <a:r>
            <a:rPr lang="en-AU" dirty="0"/>
            <a:t>Currently we are in a major paradigm shift towards the recovery approach which is a trauma-informed framework</a:t>
          </a:r>
          <a:endParaRPr lang="en-US" dirty="0"/>
        </a:p>
      </dgm:t>
    </dgm:pt>
    <dgm:pt modelId="{153B5E7E-0DBC-4FEB-A44D-8D8FAD027FCD}" type="parTrans" cxnId="{10D87468-C558-461E-A184-62F6FE619C18}">
      <dgm:prSet/>
      <dgm:spPr/>
      <dgm:t>
        <a:bodyPr/>
        <a:lstStyle/>
        <a:p>
          <a:endParaRPr lang="en-US"/>
        </a:p>
      </dgm:t>
    </dgm:pt>
    <dgm:pt modelId="{5A41C76D-DCED-4705-AE98-5CC1B40313A9}" type="sibTrans" cxnId="{10D87468-C558-461E-A184-62F6FE619C18}">
      <dgm:prSet/>
      <dgm:spPr/>
      <dgm:t>
        <a:bodyPr/>
        <a:lstStyle/>
        <a:p>
          <a:endParaRPr lang="en-US"/>
        </a:p>
      </dgm:t>
    </dgm:pt>
    <dgm:pt modelId="{42A2575D-6351-4C7B-A07D-22E9337FD569}">
      <dgm:prSet/>
      <dgm:spPr/>
      <dgm:t>
        <a:bodyPr/>
        <a:lstStyle/>
        <a:p>
          <a:r>
            <a:rPr lang="en-AU" dirty="0"/>
            <a:t>The ex-NSW Mental health care commissioners quote during </a:t>
          </a:r>
          <a:r>
            <a:rPr lang="en-AU"/>
            <a:t>my training with him was </a:t>
          </a:r>
          <a:r>
            <a:rPr lang="en-AU" dirty="0"/>
            <a:t>“the worst thing that has happened to mental health is the removal of psychotherapy from psychiatry”</a:t>
          </a:r>
          <a:endParaRPr lang="en-US" dirty="0"/>
        </a:p>
      </dgm:t>
    </dgm:pt>
    <dgm:pt modelId="{8B8E9946-1026-4A14-97D4-1B29CBCF4246}" type="parTrans" cxnId="{C8F0DA79-8558-4599-AFD4-AA8E6D427EA6}">
      <dgm:prSet/>
      <dgm:spPr/>
      <dgm:t>
        <a:bodyPr/>
        <a:lstStyle/>
        <a:p>
          <a:endParaRPr lang="en-US"/>
        </a:p>
      </dgm:t>
    </dgm:pt>
    <dgm:pt modelId="{CF8B37BC-BFD0-4283-9922-05FF123D4C9A}" type="sibTrans" cxnId="{C8F0DA79-8558-4599-AFD4-AA8E6D427EA6}">
      <dgm:prSet/>
      <dgm:spPr/>
      <dgm:t>
        <a:bodyPr/>
        <a:lstStyle/>
        <a:p>
          <a:endParaRPr lang="en-US"/>
        </a:p>
      </dgm:t>
    </dgm:pt>
    <dgm:pt modelId="{0812A93E-2861-40D1-A803-277EC7E3E506}">
      <dgm:prSet/>
      <dgm:spPr/>
      <dgm:t>
        <a:bodyPr/>
        <a:lstStyle/>
        <a:p>
          <a:r>
            <a:rPr lang="en-AU" dirty="0"/>
            <a:t>This implies that for best outcome, a mixture of both biomedical and recovery approaches would prove most efficacious</a:t>
          </a:r>
          <a:endParaRPr lang="en-US" dirty="0"/>
        </a:p>
      </dgm:t>
    </dgm:pt>
    <dgm:pt modelId="{E1FE2CD9-3537-47E1-9DB8-F60DDD09BBAC}" type="parTrans" cxnId="{90F136BB-0A67-49E4-8343-B147555D49E6}">
      <dgm:prSet/>
      <dgm:spPr/>
      <dgm:t>
        <a:bodyPr/>
        <a:lstStyle/>
        <a:p>
          <a:endParaRPr lang="en-US"/>
        </a:p>
      </dgm:t>
    </dgm:pt>
    <dgm:pt modelId="{9FE98A6F-00E9-455C-B832-908C52FE2BF6}" type="sibTrans" cxnId="{90F136BB-0A67-49E4-8343-B147555D49E6}">
      <dgm:prSet/>
      <dgm:spPr/>
      <dgm:t>
        <a:bodyPr/>
        <a:lstStyle/>
        <a:p>
          <a:endParaRPr lang="en-US"/>
        </a:p>
      </dgm:t>
    </dgm:pt>
    <dgm:pt modelId="{601BDB85-FADA-481A-B4CF-742E124FF70F}" type="pres">
      <dgm:prSet presAssocID="{29CFB819-26F3-46DD-9BD8-B868D40F8AE8}" presName="linear" presStyleCnt="0">
        <dgm:presLayoutVars>
          <dgm:animLvl val="lvl"/>
          <dgm:resizeHandles val="exact"/>
        </dgm:presLayoutVars>
      </dgm:prSet>
      <dgm:spPr/>
    </dgm:pt>
    <dgm:pt modelId="{24F654D8-FC27-4AA3-83F9-8D6B4BB286DE}" type="pres">
      <dgm:prSet presAssocID="{150392C8-7E08-49BF-956D-FB7E1FC68F13}" presName="parentText" presStyleLbl="node1" presStyleIdx="0" presStyleCnt="3">
        <dgm:presLayoutVars>
          <dgm:chMax val="0"/>
          <dgm:bulletEnabled val="1"/>
        </dgm:presLayoutVars>
      </dgm:prSet>
      <dgm:spPr/>
    </dgm:pt>
    <dgm:pt modelId="{F65230EC-B1C9-40EE-AB15-DB856688BA10}" type="pres">
      <dgm:prSet presAssocID="{150392C8-7E08-49BF-956D-FB7E1FC68F13}" presName="childText" presStyleLbl="revTx" presStyleIdx="0" presStyleCnt="2">
        <dgm:presLayoutVars>
          <dgm:bulletEnabled val="1"/>
        </dgm:presLayoutVars>
      </dgm:prSet>
      <dgm:spPr/>
    </dgm:pt>
    <dgm:pt modelId="{34F84ACD-E14D-4B12-BDFF-5D9998C2857C}" type="pres">
      <dgm:prSet presAssocID="{DF3EEAF3-2CFB-4052-992E-894128AEB5ED}" presName="parentText" presStyleLbl="node1" presStyleIdx="1" presStyleCnt="3">
        <dgm:presLayoutVars>
          <dgm:chMax val="0"/>
          <dgm:bulletEnabled val="1"/>
        </dgm:presLayoutVars>
      </dgm:prSet>
      <dgm:spPr/>
    </dgm:pt>
    <dgm:pt modelId="{5CE845B8-34B9-449D-92CB-8A13CD31E1E0}" type="pres">
      <dgm:prSet presAssocID="{5A41C76D-DCED-4705-AE98-5CC1B40313A9}" presName="spacer" presStyleCnt="0"/>
      <dgm:spPr/>
    </dgm:pt>
    <dgm:pt modelId="{DF03FC50-7BE1-4870-8B03-777E4FC5156C}" type="pres">
      <dgm:prSet presAssocID="{42A2575D-6351-4C7B-A07D-22E9337FD569}" presName="parentText" presStyleLbl="node1" presStyleIdx="2" presStyleCnt="3">
        <dgm:presLayoutVars>
          <dgm:chMax val="0"/>
          <dgm:bulletEnabled val="1"/>
        </dgm:presLayoutVars>
      </dgm:prSet>
      <dgm:spPr/>
    </dgm:pt>
    <dgm:pt modelId="{2CDF9C17-456A-4B06-A416-8609744409FD}" type="pres">
      <dgm:prSet presAssocID="{42A2575D-6351-4C7B-A07D-22E9337FD569}" presName="childText" presStyleLbl="revTx" presStyleIdx="1" presStyleCnt="2">
        <dgm:presLayoutVars>
          <dgm:bulletEnabled val="1"/>
        </dgm:presLayoutVars>
      </dgm:prSet>
      <dgm:spPr/>
    </dgm:pt>
  </dgm:ptLst>
  <dgm:cxnLst>
    <dgm:cxn modelId="{E999830E-E55D-4B0C-A174-4D10E54836BA}" type="presOf" srcId="{42A2575D-6351-4C7B-A07D-22E9337FD569}" destId="{DF03FC50-7BE1-4870-8B03-777E4FC5156C}" srcOrd="0" destOrd="0" presId="urn:microsoft.com/office/officeart/2005/8/layout/vList2"/>
    <dgm:cxn modelId="{B27E5C20-C5B0-4E23-A9DC-600166735CEE}" srcId="{E36A098C-E603-43E4-A5C8-F46EA40B28E6}" destId="{EE3CE29F-21FB-43EF-AF7F-87FAC6DC0877}" srcOrd="1" destOrd="0" parTransId="{25FC5608-ACE5-4129-B731-652945B6F7F7}" sibTransId="{976D2AFB-7A73-40BB-98D1-61D46C6F6C44}"/>
    <dgm:cxn modelId="{8D814E3B-A36E-4E6E-89F1-B523EA488F41}" srcId="{E36A098C-E603-43E4-A5C8-F46EA40B28E6}" destId="{FCA62F90-3F53-4E54-BF0B-417A1CA5A8CE}" srcOrd="2" destOrd="0" parTransId="{AF27C683-D682-4C06-9CBC-3DB5B6066BDF}" sibTransId="{2F3E0DB6-7E45-4F85-A915-A2333BDE0169}"/>
    <dgm:cxn modelId="{4AC3953E-B05D-49D9-A2F4-CD753C6CB957}" type="presOf" srcId="{FCA62F90-3F53-4E54-BF0B-417A1CA5A8CE}" destId="{F65230EC-B1C9-40EE-AB15-DB856688BA10}" srcOrd="0" destOrd="5" presId="urn:microsoft.com/office/officeart/2005/8/layout/vList2"/>
    <dgm:cxn modelId="{D71B675B-C987-4D1A-844F-B6F9D1317AFD}" type="presOf" srcId="{E02247AF-0DED-41B8-9CFA-1CDFB9445B4A}" destId="{F65230EC-B1C9-40EE-AB15-DB856688BA10}" srcOrd="0" destOrd="1" presId="urn:microsoft.com/office/officeart/2005/8/layout/vList2"/>
    <dgm:cxn modelId="{56C73B5D-D0ED-44FB-B471-F690262B34EA}" srcId="{29CFB819-26F3-46DD-9BD8-B868D40F8AE8}" destId="{150392C8-7E08-49BF-956D-FB7E1FC68F13}" srcOrd="0" destOrd="0" parTransId="{456D91A3-7378-487C-9A47-2402F0CA883C}" sibTransId="{DD7B1232-ABF3-4BC0-ADDC-AE0B5F744426}"/>
    <dgm:cxn modelId="{50E02642-EC62-4DDB-BFCA-592B17CDA976}" type="presOf" srcId="{150392C8-7E08-49BF-956D-FB7E1FC68F13}" destId="{24F654D8-FC27-4AA3-83F9-8D6B4BB286DE}" srcOrd="0" destOrd="0" presId="urn:microsoft.com/office/officeart/2005/8/layout/vList2"/>
    <dgm:cxn modelId="{10D87468-C558-461E-A184-62F6FE619C18}" srcId="{29CFB819-26F3-46DD-9BD8-B868D40F8AE8}" destId="{DF3EEAF3-2CFB-4052-992E-894128AEB5ED}" srcOrd="1" destOrd="0" parTransId="{153B5E7E-0DBC-4FEB-A44D-8D8FAD027FCD}" sibTransId="{5A41C76D-DCED-4705-AE98-5CC1B40313A9}"/>
    <dgm:cxn modelId="{388F7C6F-8042-4820-B8A6-BB9FD644E83A}" type="presOf" srcId="{D1248E35-F254-4E5C-8657-1A7F2BB99049}" destId="{F65230EC-B1C9-40EE-AB15-DB856688BA10}" srcOrd="0" destOrd="2" presId="urn:microsoft.com/office/officeart/2005/8/layout/vList2"/>
    <dgm:cxn modelId="{A52FE86F-B985-4279-B9C8-B7A70C9B8DB6}" type="presOf" srcId="{0812A93E-2861-40D1-A803-277EC7E3E506}" destId="{2CDF9C17-456A-4B06-A416-8609744409FD}" srcOrd="0" destOrd="0" presId="urn:microsoft.com/office/officeart/2005/8/layout/vList2"/>
    <dgm:cxn modelId="{E0C02A72-27C2-41F7-97AB-231BCABB405A}" srcId="{E36A098C-E603-43E4-A5C8-F46EA40B28E6}" destId="{E02247AF-0DED-41B8-9CFA-1CDFB9445B4A}" srcOrd="0" destOrd="0" parTransId="{F16EB90C-D0A6-4E62-BC72-4371B146C0E9}" sibTransId="{93E5BC2D-9D7E-41BB-9548-741C6D0A9C3F}"/>
    <dgm:cxn modelId="{C8F0DA79-8558-4599-AFD4-AA8E6D427EA6}" srcId="{29CFB819-26F3-46DD-9BD8-B868D40F8AE8}" destId="{42A2575D-6351-4C7B-A07D-22E9337FD569}" srcOrd="2" destOrd="0" parTransId="{8B8E9946-1026-4A14-97D4-1B29CBCF4246}" sibTransId="{CF8B37BC-BFD0-4283-9922-05FF123D4C9A}"/>
    <dgm:cxn modelId="{10CD2C86-8257-493D-BE29-B67170DB9212}" type="presOf" srcId="{DF3EEAF3-2CFB-4052-992E-894128AEB5ED}" destId="{34F84ACD-E14D-4B12-BDFF-5D9998C2857C}" srcOrd="0" destOrd="0" presId="urn:microsoft.com/office/officeart/2005/8/layout/vList2"/>
    <dgm:cxn modelId="{59F82C8E-A365-48A3-96BC-AD4CC6262AC7}" type="presOf" srcId="{C82E879E-AB50-46A1-AE07-2D80B98821AB}" destId="{F65230EC-B1C9-40EE-AB15-DB856688BA10}" srcOrd="0" destOrd="4" presId="urn:microsoft.com/office/officeart/2005/8/layout/vList2"/>
    <dgm:cxn modelId="{9E9B7499-FA00-4D82-821C-87C899669D12}" srcId="{EE3CE29F-21FB-43EF-AF7F-87FAC6DC0877}" destId="{C82E879E-AB50-46A1-AE07-2D80B98821AB}" srcOrd="0" destOrd="0" parTransId="{771A5C96-7472-44A7-BE18-3D83163B523E}" sibTransId="{966E0213-7F7D-45C9-907C-043BC25E04FE}"/>
    <dgm:cxn modelId="{DC71969E-FE5B-480F-B3AC-50EA14003807}" srcId="{150392C8-7E08-49BF-956D-FB7E1FC68F13}" destId="{E36A098C-E603-43E4-A5C8-F46EA40B28E6}" srcOrd="0" destOrd="0" parTransId="{C37D9FA3-AC3B-4087-BFC3-0E01D9FFC3C4}" sibTransId="{2F54FD5C-30C9-46CA-8C6F-E1DB43B0E07D}"/>
    <dgm:cxn modelId="{64831AB1-D3F7-476A-BA2D-8F235644D25D}" type="presOf" srcId="{29CFB819-26F3-46DD-9BD8-B868D40F8AE8}" destId="{601BDB85-FADA-481A-B4CF-742E124FF70F}" srcOrd="0" destOrd="0" presId="urn:microsoft.com/office/officeart/2005/8/layout/vList2"/>
    <dgm:cxn modelId="{FE6E2CB6-E66D-4725-B5FC-0BAFEEFA1F88}" type="presOf" srcId="{E36A098C-E603-43E4-A5C8-F46EA40B28E6}" destId="{F65230EC-B1C9-40EE-AB15-DB856688BA10}" srcOrd="0" destOrd="0" presId="urn:microsoft.com/office/officeart/2005/8/layout/vList2"/>
    <dgm:cxn modelId="{90F136BB-0A67-49E4-8343-B147555D49E6}" srcId="{42A2575D-6351-4C7B-A07D-22E9337FD569}" destId="{0812A93E-2861-40D1-A803-277EC7E3E506}" srcOrd="0" destOrd="0" parTransId="{E1FE2CD9-3537-47E1-9DB8-F60DDD09BBAC}" sibTransId="{9FE98A6F-00E9-455C-B832-908C52FE2BF6}"/>
    <dgm:cxn modelId="{0E9691F3-AA3B-40EC-91D2-BBCEBE995604}" srcId="{E02247AF-0DED-41B8-9CFA-1CDFB9445B4A}" destId="{D1248E35-F254-4E5C-8657-1A7F2BB99049}" srcOrd="0" destOrd="0" parTransId="{636E19E5-A1EC-4521-A034-768A77859D45}" sibTransId="{E73FA06B-A143-4952-87D8-71984FE008E5}"/>
    <dgm:cxn modelId="{34FE1CFE-ADD2-4590-802E-9994EFE9DFAE}" type="presOf" srcId="{EE3CE29F-21FB-43EF-AF7F-87FAC6DC0877}" destId="{F65230EC-B1C9-40EE-AB15-DB856688BA10}" srcOrd="0" destOrd="3" presId="urn:microsoft.com/office/officeart/2005/8/layout/vList2"/>
    <dgm:cxn modelId="{285AD71E-B5CE-4D61-BC9E-CA0EECCECCF1}" type="presParOf" srcId="{601BDB85-FADA-481A-B4CF-742E124FF70F}" destId="{24F654D8-FC27-4AA3-83F9-8D6B4BB286DE}" srcOrd="0" destOrd="0" presId="urn:microsoft.com/office/officeart/2005/8/layout/vList2"/>
    <dgm:cxn modelId="{D72D60FB-26C3-4E8C-AA6E-7DB5C266661C}" type="presParOf" srcId="{601BDB85-FADA-481A-B4CF-742E124FF70F}" destId="{F65230EC-B1C9-40EE-AB15-DB856688BA10}" srcOrd="1" destOrd="0" presId="urn:microsoft.com/office/officeart/2005/8/layout/vList2"/>
    <dgm:cxn modelId="{F15C7543-8528-43FF-8BA4-C76EEB7D9951}" type="presParOf" srcId="{601BDB85-FADA-481A-B4CF-742E124FF70F}" destId="{34F84ACD-E14D-4B12-BDFF-5D9998C2857C}" srcOrd="2" destOrd="0" presId="urn:microsoft.com/office/officeart/2005/8/layout/vList2"/>
    <dgm:cxn modelId="{413AA747-20F2-4101-9AB6-27FB0178E273}" type="presParOf" srcId="{601BDB85-FADA-481A-B4CF-742E124FF70F}" destId="{5CE845B8-34B9-449D-92CB-8A13CD31E1E0}" srcOrd="3" destOrd="0" presId="urn:microsoft.com/office/officeart/2005/8/layout/vList2"/>
    <dgm:cxn modelId="{2A1B03C8-BE38-4530-8CEF-8396E380DE9D}" type="presParOf" srcId="{601BDB85-FADA-481A-B4CF-742E124FF70F}" destId="{DF03FC50-7BE1-4870-8B03-777E4FC5156C}" srcOrd="4" destOrd="0" presId="urn:microsoft.com/office/officeart/2005/8/layout/vList2"/>
    <dgm:cxn modelId="{6BF6E663-1BDE-44F2-AFCD-B1A444C48B21}" type="presParOf" srcId="{601BDB85-FADA-481A-B4CF-742E124FF70F}" destId="{2CDF9C17-456A-4B06-A416-8609744409FD}"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1512A0B-86A1-4E7A-8885-6C4E57D91E2E}"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0872914-C56E-4FFD-935A-D8A4AFC272A7}">
      <dgm:prSet/>
      <dgm:spPr/>
      <dgm:t>
        <a:bodyPr/>
        <a:lstStyle/>
        <a:p>
          <a:r>
            <a:rPr lang="en-AU"/>
            <a:t>Living a good life with or without symptoms </a:t>
          </a:r>
          <a:endParaRPr lang="en-US"/>
        </a:p>
      </dgm:t>
    </dgm:pt>
    <dgm:pt modelId="{006892FF-073D-4135-8EE1-3521A855A4D5}" type="parTrans" cxnId="{CDF0AFE2-CCA4-463F-AF59-9FA15CF68AA8}">
      <dgm:prSet/>
      <dgm:spPr/>
      <dgm:t>
        <a:bodyPr/>
        <a:lstStyle/>
        <a:p>
          <a:endParaRPr lang="en-US"/>
        </a:p>
      </dgm:t>
    </dgm:pt>
    <dgm:pt modelId="{0DB965FF-6B23-4F7C-9D3F-17E491C3BEE1}" type="sibTrans" cxnId="{CDF0AFE2-CCA4-463F-AF59-9FA15CF68AA8}">
      <dgm:prSet/>
      <dgm:spPr/>
      <dgm:t>
        <a:bodyPr/>
        <a:lstStyle/>
        <a:p>
          <a:endParaRPr lang="en-US"/>
        </a:p>
      </dgm:t>
    </dgm:pt>
    <dgm:pt modelId="{15B8AD39-2D02-4898-BB95-432260679B1E}">
      <dgm:prSet/>
      <dgm:spPr/>
      <dgm:t>
        <a:bodyPr/>
        <a:lstStyle/>
        <a:p>
          <a:r>
            <a:rPr lang="en-AU"/>
            <a:t>Strengths based rather than symptoms based</a:t>
          </a:r>
          <a:endParaRPr lang="en-US"/>
        </a:p>
      </dgm:t>
    </dgm:pt>
    <dgm:pt modelId="{26C71723-D9B4-4ABC-86E4-A84D3C7DEC30}" type="parTrans" cxnId="{BF442526-CF4E-4F38-96B4-7B9F18D1BB0E}">
      <dgm:prSet/>
      <dgm:spPr/>
      <dgm:t>
        <a:bodyPr/>
        <a:lstStyle/>
        <a:p>
          <a:endParaRPr lang="en-US"/>
        </a:p>
      </dgm:t>
    </dgm:pt>
    <dgm:pt modelId="{F52C5E53-FE09-4506-B57D-0012A7B965EE}" type="sibTrans" cxnId="{BF442526-CF4E-4F38-96B4-7B9F18D1BB0E}">
      <dgm:prSet/>
      <dgm:spPr/>
      <dgm:t>
        <a:bodyPr/>
        <a:lstStyle/>
        <a:p>
          <a:endParaRPr lang="en-US"/>
        </a:p>
      </dgm:t>
    </dgm:pt>
    <dgm:pt modelId="{F539F07D-E781-4797-BE0A-8ECDE990B6A8}">
      <dgm:prSet/>
      <dgm:spPr/>
      <dgm:t>
        <a:bodyPr/>
        <a:lstStyle/>
        <a:p>
          <a:r>
            <a:rPr lang="en-AU"/>
            <a:t>Avoids labelling (diagnoses and symptoms unless the consumer prefers that)</a:t>
          </a:r>
          <a:endParaRPr lang="en-US"/>
        </a:p>
      </dgm:t>
    </dgm:pt>
    <dgm:pt modelId="{ACEBE1AB-710D-4785-B824-D890E26CA062}" type="parTrans" cxnId="{BD870584-B026-4996-9569-C394A2F7E6FB}">
      <dgm:prSet/>
      <dgm:spPr/>
      <dgm:t>
        <a:bodyPr/>
        <a:lstStyle/>
        <a:p>
          <a:endParaRPr lang="en-US"/>
        </a:p>
      </dgm:t>
    </dgm:pt>
    <dgm:pt modelId="{2A8F04DC-9292-4363-A317-AF8640975C67}" type="sibTrans" cxnId="{BD870584-B026-4996-9569-C394A2F7E6FB}">
      <dgm:prSet/>
      <dgm:spPr/>
      <dgm:t>
        <a:bodyPr/>
        <a:lstStyle/>
        <a:p>
          <a:endParaRPr lang="en-US"/>
        </a:p>
      </dgm:t>
    </dgm:pt>
    <dgm:pt modelId="{DE5C2F3C-0110-404F-98D1-C7606EA4AB19}">
      <dgm:prSet/>
      <dgm:spPr/>
      <dgm:t>
        <a:bodyPr/>
        <a:lstStyle/>
        <a:p>
          <a:r>
            <a:rPr lang="en-AU"/>
            <a:t>Being trauma aware (deep topic will make slides if requested)</a:t>
          </a:r>
          <a:endParaRPr lang="en-US"/>
        </a:p>
      </dgm:t>
    </dgm:pt>
    <dgm:pt modelId="{45BD2157-B541-4333-97AE-2C1CACE25BE8}" type="parTrans" cxnId="{5E952ADC-BAD9-4322-90E7-F8354C375254}">
      <dgm:prSet/>
      <dgm:spPr/>
      <dgm:t>
        <a:bodyPr/>
        <a:lstStyle/>
        <a:p>
          <a:endParaRPr lang="en-US"/>
        </a:p>
      </dgm:t>
    </dgm:pt>
    <dgm:pt modelId="{988C1DD3-EEF2-4F02-BF84-18A71ED48922}" type="sibTrans" cxnId="{5E952ADC-BAD9-4322-90E7-F8354C375254}">
      <dgm:prSet/>
      <dgm:spPr/>
      <dgm:t>
        <a:bodyPr/>
        <a:lstStyle/>
        <a:p>
          <a:endParaRPr lang="en-US"/>
        </a:p>
      </dgm:t>
    </dgm:pt>
    <dgm:pt modelId="{8FD562FC-C9FA-43F8-830E-80544C3801F8}">
      <dgm:prSet/>
      <dgm:spPr/>
      <dgm:t>
        <a:bodyPr/>
        <a:lstStyle/>
        <a:p>
          <a:r>
            <a:rPr lang="en-AU"/>
            <a:t>Focusses on reasonable personal recovery rather than health worker defined recovery </a:t>
          </a:r>
          <a:endParaRPr lang="en-US"/>
        </a:p>
      </dgm:t>
    </dgm:pt>
    <dgm:pt modelId="{4ADFBE8A-04CA-42B7-8695-E234E47683FA}" type="parTrans" cxnId="{E584ADC7-DC49-40F1-8DD7-5506FCA7DF10}">
      <dgm:prSet/>
      <dgm:spPr/>
      <dgm:t>
        <a:bodyPr/>
        <a:lstStyle/>
        <a:p>
          <a:endParaRPr lang="en-US"/>
        </a:p>
      </dgm:t>
    </dgm:pt>
    <dgm:pt modelId="{825E05CF-D44D-4A07-8741-089AEA1B0596}" type="sibTrans" cxnId="{E584ADC7-DC49-40F1-8DD7-5506FCA7DF10}">
      <dgm:prSet/>
      <dgm:spPr/>
      <dgm:t>
        <a:bodyPr/>
        <a:lstStyle/>
        <a:p>
          <a:endParaRPr lang="en-US"/>
        </a:p>
      </dgm:t>
    </dgm:pt>
    <dgm:pt modelId="{6F8A7C38-EC3C-4F1F-B074-D8EBB5A77951}">
      <dgm:prSet/>
      <dgm:spPr/>
      <dgm:t>
        <a:bodyPr/>
        <a:lstStyle/>
        <a:p>
          <a:r>
            <a:rPr lang="en-AU" dirty="0"/>
            <a:t>Hence, is more person centred rather than task oriented (that being said a biomedical approach user can be person centerer, just like a recovery approach user can be task oriented) </a:t>
          </a:r>
          <a:endParaRPr lang="en-US" dirty="0"/>
        </a:p>
      </dgm:t>
    </dgm:pt>
    <dgm:pt modelId="{A92E5E8D-08B2-4990-AE30-EEDCD115EA85}" type="parTrans" cxnId="{3F9FB480-A408-4A91-B68D-97F5C3BA6676}">
      <dgm:prSet/>
      <dgm:spPr/>
      <dgm:t>
        <a:bodyPr/>
        <a:lstStyle/>
        <a:p>
          <a:endParaRPr lang="en-US"/>
        </a:p>
      </dgm:t>
    </dgm:pt>
    <dgm:pt modelId="{CF3AA477-11E0-4CB9-A170-D4007FC36A90}" type="sibTrans" cxnId="{3F9FB480-A408-4A91-B68D-97F5C3BA6676}">
      <dgm:prSet/>
      <dgm:spPr/>
      <dgm:t>
        <a:bodyPr/>
        <a:lstStyle/>
        <a:p>
          <a:endParaRPr lang="en-US"/>
        </a:p>
      </dgm:t>
    </dgm:pt>
    <dgm:pt modelId="{4EEEA252-D6B7-48A0-9E81-4A649147C9EE}" type="pres">
      <dgm:prSet presAssocID="{01512A0B-86A1-4E7A-8885-6C4E57D91E2E}" presName="root" presStyleCnt="0">
        <dgm:presLayoutVars>
          <dgm:dir/>
          <dgm:resizeHandles val="exact"/>
        </dgm:presLayoutVars>
      </dgm:prSet>
      <dgm:spPr/>
    </dgm:pt>
    <dgm:pt modelId="{A08D8740-DFDA-4536-9916-FA3289ED779E}" type="pres">
      <dgm:prSet presAssocID="{70872914-C56E-4FFD-935A-D8A4AFC272A7}" presName="compNode" presStyleCnt="0"/>
      <dgm:spPr/>
    </dgm:pt>
    <dgm:pt modelId="{9FBED392-E56B-4F85-9498-6AA8B2E4BF09}" type="pres">
      <dgm:prSet presAssocID="{70872914-C56E-4FFD-935A-D8A4AFC272A7}" presName="bgRect" presStyleLbl="bgShp" presStyleIdx="0" presStyleCnt="5"/>
      <dgm:spPr/>
    </dgm:pt>
    <dgm:pt modelId="{68709B25-A9E7-4A94-916A-F3F15CDD49E9}" type="pres">
      <dgm:prSet presAssocID="{70872914-C56E-4FFD-935A-D8A4AFC272A7}"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tethoscope"/>
        </a:ext>
      </dgm:extLst>
    </dgm:pt>
    <dgm:pt modelId="{5AFE3735-70B1-480C-A04B-FBE5D25F14DB}" type="pres">
      <dgm:prSet presAssocID="{70872914-C56E-4FFD-935A-D8A4AFC272A7}" presName="spaceRect" presStyleCnt="0"/>
      <dgm:spPr/>
    </dgm:pt>
    <dgm:pt modelId="{E72C982A-AB3A-4F88-8104-79C971DEEFF5}" type="pres">
      <dgm:prSet presAssocID="{70872914-C56E-4FFD-935A-D8A4AFC272A7}" presName="parTx" presStyleLbl="revTx" presStyleIdx="0" presStyleCnt="6">
        <dgm:presLayoutVars>
          <dgm:chMax val="0"/>
          <dgm:chPref val="0"/>
        </dgm:presLayoutVars>
      </dgm:prSet>
      <dgm:spPr/>
    </dgm:pt>
    <dgm:pt modelId="{E6BC45B0-D74F-4E30-A8A0-24C2BF718D7E}" type="pres">
      <dgm:prSet presAssocID="{0DB965FF-6B23-4F7C-9D3F-17E491C3BEE1}" presName="sibTrans" presStyleCnt="0"/>
      <dgm:spPr/>
    </dgm:pt>
    <dgm:pt modelId="{AF6B2220-87BC-4930-964A-6E8E5A6A7009}" type="pres">
      <dgm:prSet presAssocID="{15B8AD39-2D02-4898-BB95-432260679B1E}" presName="compNode" presStyleCnt="0"/>
      <dgm:spPr/>
    </dgm:pt>
    <dgm:pt modelId="{6A95FABB-8367-43E3-BAF6-0451AE6A2E63}" type="pres">
      <dgm:prSet presAssocID="{15B8AD39-2D02-4898-BB95-432260679B1E}" presName="bgRect" presStyleLbl="bgShp" presStyleIdx="1" presStyleCnt="5"/>
      <dgm:spPr/>
    </dgm:pt>
    <dgm:pt modelId="{6996F398-C193-45FB-9770-7198F0AFA9FF}" type="pres">
      <dgm:prSet presAssocID="{15B8AD39-2D02-4898-BB95-432260679B1E}"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C3CDA450-3E3D-4081-B18D-F0D87681952A}" type="pres">
      <dgm:prSet presAssocID="{15B8AD39-2D02-4898-BB95-432260679B1E}" presName="spaceRect" presStyleCnt="0"/>
      <dgm:spPr/>
    </dgm:pt>
    <dgm:pt modelId="{8398BF24-8F7A-423E-9E82-654A563A4109}" type="pres">
      <dgm:prSet presAssocID="{15B8AD39-2D02-4898-BB95-432260679B1E}" presName="parTx" presStyleLbl="revTx" presStyleIdx="1" presStyleCnt="6">
        <dgm:presLayoutVars>
          <dgm:chMax val="0"/>
          <dgm:chPref val="0"/>
        </dgm:presLayoutVars>
      </dgm:prSet>
      <dgm:spPr/>
    </dgm:pt>
    <dgm:pt modelId="{86C5D115-203B-49A0-B05A-91C50B6D0514}" type="pres">
      <dgm:prSet presAssocID="{F52C5E53-FE09-4506-B57D-0012A7B965EE}" presName="sibTrans" presStyleCnt="0"/>
      <dgm:spPr/>
    </dgm:pt>
    <dgm:pt modelId="{658800D2-0D2F-45A3-BA2A-49547160A942}" type="pres">
      <dgm:prSet presAssocID="{F539F07D-E781-4797-BE0A-8ECDE990B6A8}" presName="compNode" presStyleCnt="0"/>
      <dgm:spPr/>
    </dgm:pt>
    <dgm:pt modelId="{FCF8C5E8-7410-46EF-AC41-2C96D56E7DBC}" type="pres">
      <dgm:prSet presAssocID="{F539F07D-E781-4797-BE0A-8ECDE990B6A8}" presName="bgRect" presStyleLbl="bgShp" presStyleIdx="2" presStyleCnt="5"/>
      <dgm:spPr/>
    </dgm:pt>
    <dgm:pt modelId="{4F71A8AB-58C0-4E1E-B71D-642754D52EDB}" type="pres">
      <dgm:prSet presAssocID="{F539F07D-E781-4797-BE0A-8ECDE990B6A8}"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ospital"/>
        </a:ext>
      </dgm:extLst>
    </dgm:pt>
    <dgm:pt modelId="{12E0EF53-AB38-447F-82F4-2349D5718B39}" type="pres">
      <dgm:prSet presAssocID="{F539F07D-E781-4797-BE0A-8ECDE990B6A8}" presName="spaceRect" presStyleCnt="0"/>
      <dgm:spPr/>
    </dgm:pt>
    <dgm:pt modelId="{FA58CE79-CDBD-4324-8D3D-E21D7F2E3C1A}" type="pres">
      <dgm:prSet presAssocID="{F539F07D-E781-4797-BE0A-8ECDE990B6A8}" presName="parTx" presStyleLbl="revTx" presStyleIdx="2" presStyleCnt="6">
        <dgm:presLayoutVars>
          <dgm:chMax val="0"/>
          <dgm:chPref val="0"/>
        </dgm:presLayoutVars>
      </dgm:prSet>
      <dgm:spPr/>
    </dgm:pt>
    <dgm:pt modelId="{F87EF0E0-B09D-4108-8B97-75B19E02F381}" type="pres">
      <dgm:prSet presAssocID="{2A8F04DC-9292-4363-A317-AF8640975C67}" presName="sibTrans" presStyleCnt="0"/>
      <dgm:spPr/>
    </dgm:pt>
    <dgm:pt modelId="{5A321AD2-6D0B-4C8E-8DC9-FAF5E47B912B}" type="pres">
      <dgm:prSet presAssocID="{DE5C2F3C-0110-404F-98D1-C7606EA4AB19}" presName="compNode" presStyleCnt="0"/>
      <dgm:spPr/>
    </dgm:pt>
    <dgm:pt modelId="{BE3ED3FB-531B-4801-B7A5-27212ED44F72}" type="pres">
      <dgm:prSet presAssocID="{DE5C2F3C-0110-404F-98D1-C7606EA4AB19}" presName="bgRect" presStyleLbl="bgShp" presStyleIdx="3" presStyleCnt="5"/>
      <dgm:spPr/>
    </dgm:pt>
    <dgm:pt modelId="{45CF54C9-218D-4270-B6E6-28F7C765051E}" type="pres">
      <dgm:prSet presAssocID="{DE5C2F3C-0110-404F-98D1-C7606EA4AB19}"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irst Aid Kit"/>
        </a:ext>
      </dgm:extLst>
    </dgm:pt>
    <dgm:pt modelId="{2D1F3C11-54F2-41AA-A4AB-871C6268D941}" type="pres">
      <dgm:prSet presAssocID="{DE5C2F3C-0110-404F-98D1-C7606EA4AB19}" presName="spaceRect" presStyleCnt="0"/>
      <dgm:spPr/>
    </dgm:pt>
    <dgm:pt modelId="{55DB8542-9703-409F-92C1-7EA7BB0D5FFA}" type="pres">
      <dgm:prSet presAssocID="{DE5C2F3C-0110-404F-98D1-C7606EA4AB19}" presName="parTx" presStyleLbl="revTx" presStyleIdx="3" presStyleCnt="6">
        <dgm:presLayoutVars>
          <dgm:chMax val="0"/>
          <dgm:chPref val="0"/>
        </dgm:presLayoutVars>
      </dgm:prSet>
      <dgm:spPr/>
    </dgm:pt>
    <dgm:pt modelId="{E46CBDCA-22DC-4D76-AE21-CE09F5913CF4}" type="pres">
      <dgm:prSet presAssocID="{988C1DD3-EEF2-4F02-BF84-18A71ED48922}" presName="sibTrans" presStyleCnt="0"/>
      <dgm:spPr/>
    </dgm:pt>
    <dgm:pt modelId="{8D0E3225-0473-40E2-AC61-D9100531B221}" type="pres">
      <dgm:prSet presAssocID="{8FD562FC-C9FA-43F8-830E-80544C3801F8}" presName="compNode" presStyleCnt="0"/>
      <dgm:spPr/>
    </dgm:pt>
    <dgm:pt modelId="{ACACE8B7-75D3-49D2-8FD0-05BF17ABB3FB}" type="pres">
      <dgm:prSet presAssocID="{8FD562FC-C9FA-43F8-830E-80544C3801F8}" presName="bgRect" presStyleLbl="bgShp" presStyleIdx="4" presStyleCnt="5"/>
      <dgm:spPr/>
    </dgm:pt>
    <dgm:pt modelId="{74B5F5CF-FE73-4817-911A-6B62F78E9AC2}" type="pres">
      <dgm:prSet presAssocID="{8FD562FC-C9FA-43F8-830E-80544C3801F8}"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Doctor"/>
        </a:ext>
      </dgm:extLst>
    </dgm:pt>
    <dgm:pt modelId="{7CAEA842-E542-4567-9CDB-5B808CC3A5C9}" type="pres">
      <dgm:prSet presAssocID="{8FD562FC-C9FA-43F8-830E-80544C3801F8}" presName="spaceRect" presStyleCnt="0"/>
      <dgm:spPr/>
    </dgm:pt>
    <dgm:pt modelId="{55780AD4-1CF7-4F2C-95B5-2A6786AAB678}" type="pres">
      <dgm:prSet presAssocID="{8FD562FC-C9FA-43F8-830E-80544C3801F8}" presName="parTx" presStyleLbl="revTx" presStyleIdx="4" presStyleCnt="6">
        <dgm:presLayoutVars>
          <dgm:chMax val="0"/>
          <dgm:chPref val="0"/>
        </dgm:presLayoutVars>
      </dgm:prSet>
      <dgm:spPr/>
    </dgm:pt>
    <dgm:pt modelId="{FAD6A4A8-9547-460F-9206-94180F033BB6}" type="pres">
      <dgm:prSet presAssocID="{8FD562FC-C9FA-43F8-830E-80544C3801F8}" presName="desTx" presStyleLbl="revTx" presStyleIdx="5" presStyleCnt="6">
        <dgm:presLayoutVars/>
      </dgm:prSet>
      <dgm:spPr/>
    </dgm:pt>
  </dgm:ptLst>
  <dgm:cxnLst>
    <dgm:cxn modelId="{BF4F4419-0553-47F7-AB59-FE71F74F0916}" type="presOf" srcId="{70872914-C56E-4FFD-935A-D8A4AFC272A7}" destId="{E72C982A-AB3A-4F88-8104-79C971DEEFF5}" srcOrd="0" destOrd="0" presId="urn:microsoft.com/office/officeart/2018/2/layout/IconVerticalSolidList"/>
    <dgm:cxn modelId="{079D2A25-627F-4960-BBAF-24474D543FA0}" type="presOf" srcId="{01512A0B-86A1-4E7A-8885-6C4E57D91E2E}" destId="{4EEEA252-D6B7-48A0-9E81-4A649147C9EE}" srcOrd="0" destOrd="0" presId="urn:microsoft.com/office/officeart/2018/2/layout/IconVerticalSolidList"/>
    <dgm:cxn modelId="{BF442526-CF4E-4F38-96B4-7B9F18D1BB0E}" srcId="{01512A0B-86A1-4E7A-8885-6C4E57D91E2E}" destId="{15B8AD39-2D02-4898-BB95-432260679B1E}" srcOrd="1" destOrd="0" parTransId="{26C71723-D9B4-4ABC-86E4-A84D3C7DEC30}" sibTransId="{F52C5E53-FE09-4506-B57D-0012A7B965EE}"/>
    <dgm:cxn modelId="{CD729061-29E4-4038-A87F-DA1909D30DEB}" type="presOf" srcId="{F539F07D-E781-4797-BE0A-8ECDE990B6A8}" destId="{FA58CE79-CDBD-4324-8D3D-E21D7F2E3C1A}" srcOrd="0" destOrd="0" presId="urn:microsoft.com/office/officeart/2018/2/layout/IconVerticalSolidList"/>
    <dgm:cxn modelId="{310ECA76-09BD-4B8D-8AF0-1B584434AE93}" type="presOf" srcId="{8FD562FC-C9FA-43F8-830E-80544C3801F8}" destId="{55780AD4-1CF7-4F2C-95B5-2A6786AAB678}" srcOrd="0" destOrd="0" presId="urn:microsoft.com/office/officeart/2018/2/layout/IconVerticalSolidList"/>
    <dgm:cxn modelId="{3F9FB480-A408-4A91-B68D-97F5C3BA6676}" srcId="{8FD562FC-C9FA-43F8-830E-80544C3801F8}" destId="{6F8A7C38-EC3C-4F1F-B074-D8EBB5A77951}" srcOrd="0" destOrd="0" parTransId="{A92E5E8D-08B2-4990-AE30-EEDCD115EA85}" sibTransId="{CF3AA477-11E0-4CB9-A170-D4007FC36A90}"/>
    <dgm:cxn modelId="{BD870584-B026-4996-9569-C394A2F7E6FB}" srcId="{01512A0B-86A1-4E7A-8885-6C4E57D91E2E}" destId="{F539F07D-E781-4797-BE0A-8ECDE990B6A8}" srcOrd="2" destOrd="0" parTransId="{ACEBE1AB-710D-4785-B824-D890E26CA062}" sibTransId="{2A8F04DC-9292-4363-A317-AF8640975C67}"/>
    <dgm:cxn modelId="{5D0868B3-F75E-43C7-93C9-3850AAA2F0F4}" type="presOf" srcId="{15B8AD39-2D02-4898-BB95-432260679B1E}" destId="{8398BF24-8F7A-423E-9E82-654A563A4109}" srcOrd="0" destOrd="0" presId="urn:microsoft.com/office/officeart/2018/2/layout/IconVerticalSolidList"/>
    <dgm:cxn modelId="{E584ADC7-DC49-40F1-8DD7-5506FCA7DF10}" srcId="{01512A0B-86A1-4E7A-8885-6C4E57D91E2E}" destId="{8FD562FC-C9FA-43F8-830E-80544C3801F8}" srcOrd="4" destOrd="0" parTransId="{4ADFBE8A-04CA-42B7-8695-E234E47683FA}" sibTransId="{825E05CF-D44D-4A07-8741-089AEA1B0596}"/>
    <dgm:cxn modelId="{5E952ADC-BAD9-4322-90E7-F8354C375254}" srcId="{01512A0B-86A1-4E7A-8885-6C4E57D91E2E}" destId="{DE5C2F3C-0110-404F-98D1-C7606EA4AB19}" srcOrd="3" destOrd="0" parTransId="{45BD2157-B541-4333-97AE-2C1CACE25BE8}" sibTransId="{988C1DD3-EEF2-4F02-BF84-18A71ED48922}"/>
    <dgm:cxn modelId="{BD3AC0DE-6F92-4973-9791-2F3E1B8F36D6}" type="presOf" srcId="{6F8A7C38-EC3C-4F1F-B074-D8EBB5A77951}" destId="{FAD6A4A8-9547-460F-9206-94180F033BB6}" srcOrd="0" destOrd="0" presId="urn:microsoft.com/office/officeart/2018/2/layout/IconVerticalSolidList"/>
    <dgm:cxn modelId="{CDF0AFE2-CCA4-463F-AF59-9FA15CF68AA8}" srcId="{01512A0B-86A1-4E7A-8885-6C4E57D91E2E}" destId="{70872914-C56E-4FFD-935A-D8A4AFC272A7}" srcOrd="0" destOrd="0" parTransId="{006892FF-073D-4135-8EE1-3521A855A4D5}" sibTransId="{0DB965FF-6B23-4F7C-9D3F-17E491C3BEE1}"/>
    <dgm:cxn modelId="{BD3718FE-550D-4B3B-8007-B809B02A5F68}" type="presOf" srcId="{DE5C2F3C-0110-404F-98D1-C7606EA4AB19}" destId="{55DB8542-9703-409F-92C1-7EA7BB0D5FFA}" srcOrd="0" destOrd="0" presId="urn:microsoft.com/office/officeart/2018/2/layout/IconVerticalSolidList"/>
    <dgm:cxn modelId="{8E45A321-EBC1-4558-B96F-98697064FC4E}" type="presParOf" srcId="{4EEEA252-D6B7-48A0-9E81-4A649147C9EE}" destId="{A08D8740-DFDA-4536-9916-FA3289ED779E}" srcOrd="0" destOrd="0" presId="urn:microsoft.com/office/officeart/2018/2/layout/IconVerticalSolidList"/>
    <dgm:cxn modelId="{F8F764BD-86C1-4F94-9633-B9BAA6BB5324}" type="presParOf" srcId="{A08D8740-DFDA-4536-9916-FA3289ED779E}" destId="{9FBED392-E56B-4F85-9498-6AA8B2E4BF09}" srcOrd="0" destOrd="0" presId="urn:microsoft.com/office/officeart/2018/2/layout/IconVerticalSolidList"/>
    <dgm:cxn modelId="{F3BFD620-BADE-4283-A39E-5E4E22A172D0}" type="presParOf" srcId="{A08D8740-DFDA-4536-9916-FA3289ED779E}" destId="{68709B25-A9E7-4A94-916A-F3F15CDD49E9}" srcOrd="1" destOrd="0" presId="urn:microsoft.com/office/officeart/2018/2/layout/IconVerticalSolidList"/>
    <dgm:cxn modelId="{31FB37C4-301A-4769-B447-229ED4E206A7}" type="presParOf" srcId="{A08D8740-DFDA-4536-9916-FA3289ED779E}" destId="{5AFE3735-70B1-480C-A04B-FBE5D25F14DB}" srcOrd="2" destOrd="0" presId="urn:microsoft.com/office/officeart/2018/2/layout/IconVerticalSolidList"/>
    <dgm:cxn modelId="{12BECCC3-AC5C-4185-B658-C34B453AA88D}" type="presParOf" srcId="{A08D8740-DFDA-4536-9916-FA3289ED779E}" destId="{E72C982A-AB3A-4F88-8104-79C971DEEFF5}" srcOrd="3" destOrd="0" presId="urn:microsoft.com/office/officeart/2018/2/layout/IconVerticalSolidList"/>
    <dgm:cxn modelId="{CBBA901A-44C4-4C4D-8066-F957A4275553}" type="presParOf" srcId="{4EEEA252-D6B7-48A0-9E81-4A649147C9EE}" destId="{E6BC45B0-D74F-4E30-A8A0-24C2BF718D7E}" srcOrd="1" destOrd="0" presId="urn:microsoft.com/office/officeart/2018/2/layout/IconVerticalSolidList"/>
    <dgm:cxn modelId="{BABE1AD2-086C-478B-9AF1-DC2B21C16034}" type="presParOf" srcId="{4EEEA252-D6B7-48A0-9E81-4A649147C9EE}" destId="{AF6B2220-87BC-4930-964A-6E8E5A6A7009}" srcOrd="2" destOrd="0" presId="urn:microsoft.com/office/officeart/2018/2/layout/IconVerticalSolidList"/>
    <dgm:cxn modelId="{5C2EFB72-E1D2-44CD-8D92-39A35C825853}" type="presParOf" srcId="{AF6B2220-87BC-4930-964A-6E8E5A6A7009}" destId="{6A95FABB-8367-43E3-BAF6-0451AE6A2E63}" srcOrd="0" destOrd="0" presId="urn:microsoft.com/office/officeart/2018/2/layout/IconVerticalSolidList"/>
    <dgm:cxn modelId="{DDA3E01F-BF8F-4BFE-A343-937A0C7379C6}" type="presParOf" srcId="{AF6B2220-87BC-4930-964A-6E8E5A6A7009}" destId="{6996F398-C193-45FB-9770-7198F0AFA9FF}" srcOrd="1" destOrd="0" presId="urn:microsoft.com/office/officeart/2018/2/layout/IconVerticalSolidList"/>
    <dgm:cxn modelId="{E6F21B60-E001-4B7D-9F64-0930A69187EE}" type="presParOf" srcId="{AF6B2220-87BC-4930-964A-6E8E5A6A7009}" destId="{C3CDA450-3E3D-4081-B18D-F0D87681952A}" srcOrd="2" destOrd="0" presId="urn:microsoft.com/office/officeart/2018/2/layout/IconVerticalSolidList"/>
    <dgm:cxn modelId="{8FB6C2F4-002E-4DA0-9248-C60646DD8B4F}" type="presParOf" srcId="{AF6B2220-87BC-4930-964A-6E8E5A6A7009}" destId="{8398BF24-8F7A-423E-9E82-654A563A4109}" srcOrd="3" destOrd="0" presId="urn:microsoft.com/office/officeart/2018/2/layout/IconVerticalSolidList"/>
    <dgm:cxn modelId="{E4DDE053-1219-4282-B911-34C4B084482A}" type="presParOf" srcId="{4EEEA252-D6B7-48A0-9E81-4A649147C9EE}" destId="{86C5D115-203B-49A0-B05A-91C50B6D0514}" srcOrd="3" destOrd="0" presId="urn:microsoft.com/office/officeart/2018/2/layout/IconVerticalSolidList"/>
    <dgm:cxn modelId="{FD7DB703-86DB-4425-8DEB-C053F13BC804}" type="presParOf" srcId="{4EEEA252-D6B7-48A0-9E81-4A649147C9EE}" destId="{658800D2-0D2F-45A3-BA2A-49547160A942}" srcOrd="4" destOrd="0" presId="urn:microsoft.com/office/officeart/2018/2/layout/IconVerticalSolidList"/>
    <dgm:cxn modelId="{240DFD7B-F605-4C86-B563-E1F69C95BE4A}" type="presParOf" srcId="{658800D2-0D2F-45A3-BA2A-49547160A942}" destId="{FCF8C5E8-7410-46EF-AC41-2C96D56E7DBC}" srcOrd="0" destOrd="0" presId="urn:microsoft.com/office/officeart/2018/2/layout/IconVerticalSolidList"/>
    <dgm:cxn modelId="{7A02C619-2D1F-4991-A86F-D0D359C82CF4}" type="presParOf" srcId="{658800D2-0D2F-45A3-BA2A-49547160A942}" destId="{4F71A8AB-58C0-4E1E-B71D-642754D52EDB}" srcOrd="1" destOrd="0" presId="urn:microsoft.com/office/officeart/2018/2/layout/IconVerticalSolidList"/>
    <dgm:cxn modelId="{EC6C86CE-5833-4822-A742-342BACD96E56}" type="presParOf" srcId="{658800D2-0D2F-45A3-BA2A-49547160A942}" destId="{12E0EF53-AB38-447F-82F4-2349D5718B39}" srcOrd="2" destOrd="0" presId="urn:microsoft.com/office/officeart/2018/2/layout/IconVerticalSolidList"/>
    <dgm:cxn modelId="{E0244C5C-DAED-43FF-86AC-59597D57156D}" type="presParOf" srcId="{658800D2-0D2F-45A3-BA2A-49547160A942}" destId="{FA58CE79-CDBD-4324-8D3D-E21D7F2E3C1A}" srcOrd="3" destOrd="0" presId="urn:microsoft.com/office/officeart/2018/2/layout/IconVerticalSolidList"/>
    <dgm:cxn modelId="{E6CA02A0-53DA-4054-B2EE-5B6AE34FF2F2}" type="presParOf" srcId="{4EEEA252-D6B7-48A0-9E81-4A649147C9EE}" destId="{F87EF0E0-B09D-4108-8B97-75B19E02F381}" srcOrd="5" destOrd="0" presId="urn:microsoft.com/office/officeart/2018/2/layout/IconVerticalSolidList"/>
    <dgm:cxn modelId="{92EA2D29-B59D-4582-AD89-7B20C0A451BB}" type="presParOf" srcId="{4EEEA252-D6B7-48A0-9E81-4A649147C9EE}" destId="{5A321AD2-6D0B-4C8E-8DC9-FAF5E47B912B}" srcOrd="6" destOrd="0" presId="urn:microsoft.com/office/officeart/2018/2/layout/IconVerticalSolidList"/>
    <dgm:cxn modelId="{3A3E79DF-B7F3-4C16-A5ED-01F3970FDF78}" type="presParOf" srcId="{5A321AD2-6D0B-4C8E-8DC9-FAF5E47B912B}" destId="{BE3ED3FB-531B-4801-B7A5-27212ED44F72}" srcOrd="0" destOrd="0" presId="urn:microsoft.com/office/officeart/2018/2/layout/IconVerticalSolidList"/>
    <dgm:cxn modelId="{6C1D96FA-C3D6-41D4-BCC2-62CA85700676}" type="presParOf" srcId="{5A321AD2-6D0B-4C8E-8DC9-FAF5E47B912B}" destId="{45CF54C9-218D-4270-B6E6-28F7C765051E}" srcOrd="1" destOrd="0" presId="urn:microsoft.com/office/officeart/2018/2/layout/IconVerticalSolidList"/>
    <dgm:cxn modelId="{86C6D96E-E86F-4152-B7B4-8B5F49DAECE1}" type="presParOf" srcId="{5A321AD2-6D0B-4C8E-8DC9-FAF5E47B912B}" destId="{2D1F3C11-54F2-41AA-A4AB-871C6268D941}" srcOrd="2" destOrd="0" presId="urn:microsoft.com/office/officeart/2018/2/layout/IconVerticalSolidList"/>
    <dgm:cxn modelId="{50D1886E-2DE1-4D25-9AAD-3D269FC76F5C}" type="presParOf" srcId="{5A321AD2-6D0B-4C8E-8DC9-FAF5E47B912B}" destId="{55DB8542-9703-409F-92C1-7EA7BB0D5FFA}" srcOrd="3" destOrd="0" presId="urn:microsoft.com/office/officeart/2018/2/layout/IconVerticalSolidList"/>
    <dgm:cxn modelId="{3224D2F2-571D-4FA5-8460-C9C9FCC16B3C}" type="presParOf" srcId="{4EEEA252-D6B7-48A0-9E81-4A649147C9EE}" destId="{E46CBDCA-22DC-4D76-AE21-CE09F5913CF4}" srcOrd="7" destOrd="0" presId="urn:microsoft.com/office/officeart/2018/2/layout/IconVerticalSolidList"/>
    <dgm:cxn modelId="{2920F568-A7F2-4655-9AAD-FE0869AEB08B}" type="presParOf" srcId="{4EEEA252-D6B7-48A0-9E81-4A649147C9EE}" destId="{8D0E3225-0473-40E2-AC61-D9100531B221}" srcOrd="8" destOrd="0" presId="urn:microsoft.com/office/officeart/2018/2/layout/IconVerticalSolidList"/>
    <dgm:cxn modelId="{D52DF32A-B3BA-48A1-93C5-D3A212B45545}" type="presParOf" srcId="{8D0E3225-0473-40E2-AC61-D9100531B221}" destId="{ACACE8B7-75D3-49D2-8FD0-05BF17ABB3FB}" srcOrd="0" destOrd="0" presId="urn:microsoft.com/office/officeart/2018/2/layout/IconVerticalSolidList"/>
    <dgm:cxn modelId="{916472C2-4458-4F9D-B7F4-009D16175772}" type="presParOf" srcId="{8D0E3225-0473-40E2-AC61-D9100531B221}" destId="{74B5F5CF-FE73-4817-911A-6B62F78E9AC2}" srcOrd="1" destOrd="0" presId="urn:microsoft.com/office/officeart/2018/2/layout/IconVerticalSolidList"/>
    <dgm:cxn modelId="{497D390F-88E4-402C-A3A2-16B778EDA4D7}" type="presParOf" srcId="{8D0E3225-0473-40E2-AC61-D9100531B221}" destId="{7CAEA842-E542-4567-9CDB-5B808CC3A5C9}" srcOrd="2" destOrd="0" presId="urn:microsoft.com/office/officeart/2018/2/layout/IconVerticalSolidList"/>
    <dgm:cxn modelId="{E335E7F0-5C0C-4EF0-A444-72BF85D6DE4D}" type="presParOf" srcId="{8D0E3225-0473-40E2-AC61-D9100531B221}" destId="{55780AD4-1CF7-4F2C-95B5-2A6786AAB678}" srcOrd="3" destOrd="0" presId="urn:microsoft.com/office/officeart/2018/2/layout/IconVerticalSolidList"/>
    <dgm:cxn modelId="{A6944992-06F1-45D7-84F6-EAC243DE2B43}" type="presParOf" srcId="{8D0E3225-0473-40E2-AC61-D9100531B221}" destId="{FAD6A4A8-9547-460F-9206-94180F033BB6}"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F654D8-FC27-4AA3-83F9-8D6B4BB286DE}">
      <dsp:nvSpPr>
        <dsp:cNvPr id="0" name=""/>
        <dsp:cNvSpPr/>
      </dsp:nvSpPr>
      <dsp:spPr>
        <a:xfrm>
          <a:off x="0" y="102980"/>
          <a:ext cx="10515600" cy="718672"/>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AU" sz="1800" kern="1200"/>
            <a:t>To this day the dominant approach is the biomedical approach (diagnoses and treatment)</a:t>
          </a:r>
          <a:endParaRPr lang="en-US" sz="1800" kern="1200"/>
        </a:p>
      </dsp:txBody>
      <dsp:txXfrm>
        <a:off x="35083" y="138063"/>
        <a:ext cx="10445434" cy="648506"/>
      </dsp:txXfrm>
    </dsp:sp>
    <dsp:sp modelId="{F65230EC-B1C9-40EE-AB15-DB856688BA10}">
      <dsp:nvSpPr>
        <dsp:cNvPr id="0" name=""/>
        <dsp:cNvSpPr/>
      </dsp:nvSpPr>
      <dsp:spPr>
        <a:xfrm>
          <a:off x="0" y="821652"/>
          <a:ext cx="10515600" cy="1639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AU" sz="1400" kern="1200" dirty="0"/>
            <a:t>This has evidenced based poor-efficacy (when used alone)</a:t>
          </a:r>
          <a:endParaRPr lang="en-US" sz="1400" kern="1200" dirty="0"/>
        </a:p>
        <a:p>
          <a:pPr marL="228600" lvl="2" indent="-114300" algn="l" defTabSz="622300">
            <a:lnSpc>
              <a:spcPct val="90000"/>
            </a:lnSpc>
            <a:spcBef>
              <a:spcPct val="0"/>
            </a:spcBef>
            <a:spcAft>
              <a:spcPct val="20000"/>
            </a:spcAft>
            <a:buChar char="•"/>
          </a:pPr>
          <a:r>
            <a:rPr lang="en-AU" sz="1400" kern="1200" dirty="0" err="1"/>
            <a:t>Eg.</a:t>
          </a:r>
          <a:r>
            <a:rPr lang="en-AU" sz="1400" kern="1200" dirty="0"/>
            <a:t> Getting a diagnosis/label often comes with short term relief </a:t>
          </a:r>
          <a:endParaRPr lang="en-US" sz="1400" kern="1200" dirty="0"/>
        </a:p>
        <a:p>
          <a:pPr marL="342900" lvl="3" indent="-114300" algn="l" defTabSz="622300">
            <a:lnSpc>
              <a:spcPct val="90000"/>
            </a:lnSpc>
            <a:spcBef>
              <a:spcPct val="0"/>
            </a:spcBef>
            <a:spcAft>
              <a:spcPct val="20000"/>
            </a:spcAft>
            <a:buChar char="•"/>
          </a:pPr>
          <a:r>
            <a:rPr lang="en-AU" sz="1400" kern="1200"/>
            <a:t>“OH now so much of my life makes sense”</a:t>
          </a:r>
          <a:endParaRPr lang="en-US" sz="1400" kern="1200"/>
        </a:p>
        <a:p>
          <a:pPr marL="228600" lvl="2" indent="-114300" algn="l" defTabSz="622300">
            <a:lnSpc>
              <a:spcPct val="90000"/>
            </a:lnSpc>
            <a:spcBef>
              <a:spcPct val="0"/>
            </a:spcBef>
            <a:spcAft>
              <a:spcPct val="20000"/>
            </a:spcAft>
            <a:buChar char="•"/>
          </a:pPr>
          <a:r>
            <a:rPr lang="en-AU" sz="1400" kern="1200" dirty="0"/>
            <a:t>Which is then shortly followed by</a:t>
          </a:r>
          <a:endParaRPr lang="en-US" sz="1400" kern="1200" dirty="0"/>
        </a:p>
        <a:p>
          <a:pPr marL="342900" lvl="3" indent="-114300" algn="l" defTabSz="622300">
            <a:lnSpc>
              <a:spcPct val="90000"/>
            </a:lnSpc>
            <a:spcBef>
              <a:spcPct val="0"/>
            </a:spcBef>
            <a:spcAft>
              <a:spcPct val="20000"/>
            </a:spcAft>
            <a:buChar char="•"/>
          </a:pPr>
          <a:r>
            <a:rPr lang="en-AU" sz="1400" kern="1200"/>
            <a:t>“OH this is why my life sucks”</a:t>
          </a:r>
          <a:endParaRPr lang="en-US" sz="1400" kern="1200"/>
        </a:p>
        <a:p>
          <a:pPr marL="228600" lvl="2" indent="-114300" algn="l" defTabSz="622300">
            <a:lnSpc>
              <a:spcPct val="90000"/>
            </a:lnSpc>
            <a:spcBef>
              <a:spcPct val="0"/>
            </a:spcBef>
            <a:spcAft>
              <a:spcPct val="20000"/>
            </a:spcAft>
            <a:buChar char="•"/>
          </a:pPr>
          <a:r>
            <a:rPr lang="en-AU" sz="1400" kern="1200" dirty="0"/>
            <a:t>And psychopharmaceutical drugs (particularly antidepressants) very much like getting a diagnosis, shows great short-term efficacy (we are talking weeks-months), but poor long term. </a:t>
          </a:r>
          <a:endParaRPr lang="en-US" sz="1400" kern="1200" dirty="0"/>
        </a:p>
      </dsp:txBody>
      <dsp:txXfrm>
        <a:off x="0" y="821652"/>
        <a:ext cx="10515600" cy="1639440"/>
      </dsp:txXfrm>
    </dsp:sp>
    <dsp:sp modelId="{34F84ACD-E14D-4B12-BDFF-5D9998C2857C}">
      <dsp:nvSpPr>
        <dsp:cNvPr id="0" name=""/>
        <dsp:cNvSpPr/>
      </dsp:nvSpPr>
      <dsp:spPr>
        <a:xfrm>
          <a:off x="0" y="2461092"/>
          <a:ext cx="10515600" cy="718672"/>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AU" sz="1800" kern="1200" dirty="0"/>
            <a:t>Currently we are in a major paradigm shift towards the recovery approach which is a trauma-informed framework</a:t>
          </a:r>
          <a:endParaRPr lang="en-US" sz="1800" kern="1200" dirty="0"/>
        </a:p>
      </dsp:txBody>
      <dsp:txXfrm>
        <a:off x="35083" y="2496175"/>
        <a:ext cx="10445434" cy="648506"/>
      </dsp:txXfrm>
    </dsp:sp>
    <dsp:sp modelId="{DF03FC50-7BE1-4870-8B03-777E4FC5156C}">
      <dsp:nvSpPr>
        <dsp:cNvPr id="0" name=""/>
        <dsp:cNvSpPr/>
      </dsp:nvSpPr>
      <dsp:spPr>
        <a:xfrm>
          <a:off x="0" y="3231605"/>
          <a:ext cx="10515600" cy="718672"/>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AU" sz="1800" kern="1200" dirty="0"/>
            <a:t>The ex-NSW Mental health care commissioners quote during </a:t>
          </a:r>
          <a:r>
            <a:rPr lang="en-AU" sz="1800" kern="1200"/>
            <a:t>my training with him was </a:t>
          </a:r>
          <a:r>
            <a:rPr lang="en-AU" sz="1800" kern="1200" dirty="0"/>
            <a:t>“the worst thing that has happened to mental health is the removal of psychotherapy from psychiatry”</a:t>
          </a:r>
          <a:endParaRPr lang="en-US" sz="1800" kern="1200" dirty="0"/>
        </a:p>
      </dsp:txBody>
      <dsp:txXfrm>
        <a:off x="35083" y="3266688"/>
        <a:ext cx="10445434" cy="648506"/>
      </dsp:txXfrm>
    </dsp:sp>
    <dsp:sp modelId="{2CDF9C17-456A-4B06-A416-8609744409FD}">
      <dsp:nvSpPr>
        <dsp:cNvPr id="0" name=""/>
        <dsp:cNvSpPr/>
      </dsp:nvSpPr>
      <dsp:spPr>
        <a:xfrm>
          <a:off x="0" y="3950277"/>
          <a:ext cx="10515600" cy="298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AU" sz="1400" kern="1200" dirty="0"/>
            <a:t>This implies that for best outcome, a mixture of both biomedical and recovery approaches would prove most efficacious</a:t>
          </a:r>
          <a:endParaRPr lang="en-US" sz="1400" kern="1200" dirty="0"/>
        </a:p>
      </dsp:txBody>
      <dsp:txXfrm>
        <a:off x="0" y="3950277"/>
        <a:ext cx="10515600" cy="2980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BED392-E56B-4F85-9498-6AA8B2E4BF09}">
      <dsp:nvSpPr>
        <dsp:cNvPr id="0" name=""/>
        <dsp:cNvSpPr/>
      </dsp:nvSpPr>
      <dsp:spPr>
        <a:xfrm>
          <a:off x="0" y="3275"/>
          <a:ext cx="10927829" cy="6977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709B25-A9E7-4A94-916A-F3F15CDD49E9}">
      <dsp:nvSpPr>
        <dsp:cNvPr id="0" name=""/>
        <dsp:cNvSpPr/>
      </dsp:nvSpPr>
      <dsp:spPr>
        <a:xfrm>
          <a:off x="211056" y="160260"/>
          <a:ext cx="383739" cy="38373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72C982A-AB3A-4F88-8104-79C971DEEFF5}">
      <dsp:nvSpPr>
        <dsp:cNvPr id="0" name=""/>
        <dsp:cNvSpPr/>
      </dsp:nvSpPr>
      <dsp:spPr>
        <a:xfrm>
          <a:off x="805853" y="3275"/>
          <a:ext cx="10121975" cy="697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841" tIns="73841" rIns="73841" bIns="73841" numCol="1" spcCol="1270" anchor="ctr" anchorCtr="0">
          <a:noAutofit/>
        </a:bodyPr>
        <a:lstStyle/>
        <a:p>
          <a:pPr marL="0" lvl="0" indent="0" algn="l" defTabSz="844550">
            <a:lnSpc>
              <a:spcPct val="90000"/>
            </a:lnSpc>
            <a:spcBef>
              <a:spcPct val="0"/>
            </a:spcBef>
            <a:spcAft>
              <a:spcPct val="35000"/>
            </a:spcAft>
            <a:buNone/>
          </a:pPr>
          <a:r>
            <a:rPr lang="en-AU" sz="1900" kern="1200"/>
            <a:t>Living a good life with or without symptoms </a:t>
          </a:r>
          <a:endParaRPr lang="en-US" sz="1900" kern="1200"/>
        </a:p>
      </dsp:txBody>
      <dsp:txXfrm>
        <a:off x="805853" y="3275"/>
        <a:ext cx="10121975" cy="697708"/>
      </dsp:txXfrm>
    </dsp:sp>
    <dsp:sp modelId="{6A95FABB-8367-43E3-BAF6-0451AE6A2E63}">
      <dsp:nvSpPr>
        <dsp:cNvPr id="0" name=""/>
        <dsp:cNvSpPr/>
      </dsp:nvSpPr>
      <dsp:spPr>
        <a:xfrm>
          <a:off x="0" y="875411"/>
          <a:ext cx="10927829" cy="6977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96F398-C193-45FB-9770-7198F0AFA9FF}">
      <dsp:nvSpPr>
        <dsp:cNvPr id="0" name=""/>
        <dsp:cNvSpPr/>
      </dsp:nvSpPr>
      <dsp:spPr>
        <a:xfrm>
          <a:off x="211056" y="1032396"/>
          <a:ext cx="383739" cy="38373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398BF24-8F7A-423E-9E82-654A563A4109}">
      <dsp:nvSpPr>
        <dsp:cNvPr id="0" name=""/>
        <dsp:cNvSpPr/>
      </dsp:nvSpPr>
      <dsp:spPr>
        <a:xfrm>
          <a:off x="805853" y="875411"/>
          <a:ext cx="10121975" cy="697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841" tIns="73841" rIns="73841" bIns="73841" numCol="1" spcCol="1270" anchor="ctr" anchorCtr="0">
          <a:noAutofit/>
        </a:bodyPr>
        <a:lstStyle/>
        <a:p>
          <a:pPr marL="0" lvl="0" indent="0" algn="l" defTabSz="844550">
            <a:lnSpc>
              <a:spcPct val="90000"/>
            </a:lnSpc>
            <a:spcBef>
              <a:spcPct val="0"/>
            </a:spcBef>
            <a:spcAft>
              <a:spcPct val="35000"/>
            </a:spcAft>
            <a:buNone/>
          </a:pPr>
          <a:r>
            <a:rPr lang="en-AU" sz="1900" kern="1200"/>
            <a:t>Strengths based rather than symptoms based</a:t>
          </a:r>
          <a:endParaRPr lang="en-US" sz="1900" kern="1200"/>
        </a:p>
      </dsp:txBody>
      <dsp:txXfrm>
        <a:off x="805853" y="875411"/>
        <a:ext cx="10121975" cy="697708"/>
      </dsp:txXfrm>
    </dsp:sp>
    <dsp:sp modelId="{FCF8C5E8-7410-46EF-AC41-2C96D56E7DBC}">
      <dsp:nvSpPr>
        <dsp:cNvPr id="0" name=""/>
        <dsp:cNvSpPr/>
      </dsp:nvSpPr>
      <dsp:spPr>
        <a:xfrm>
          <a:off x="0" y="1747548"/>
          <a:ext cx="10927829" cy="6977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71A8AB-58C0-4E1E-B71D-642754D52EDB}">
      <dsp:nvSpPr>
        <dsp:cNvPr id="0" name=""/>
        <dsp:cNvSpPr/>
      </dsp:nvSpPr>
      <dsp:spPr>
        <a:xfrm>
          <a:off x="211056" y="1904532"/>
          <a:ext cx="383739" cy="38373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A58CE79-CDBD-4324-8D3D-E21D7F2E3C1A}">
      <dsp:nvSpPr>
        <dsp:cNvPr id="0" name=""/>
        <dsp:cNvSpPr/>
      </dsp:nvSpPr>
      <dsp:spPr>
        <a:xfrm>
          <a:off x="805853" y="1747548"/>
          <a:ext cx="10121975" cy="697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841" tIns="73841" rIns="73841" bIns="73841" numCol="1" spcCol="1270" anchor="ctr" anchorCtr="0">
          <a:noAutofit/>
        </a:bodyPr>
        <a:lstStyle/>
        <a:p>
          <a:pPr marL="0" lvl="0" indent="0" algn="l" defTabSz="844550">
            <a:lnSpc>
              <a:spcPct val="90000"/>
            </a:lnSpc>
            <a:spcBef>
              <a:spcPct val="0"/>
            </a:spcBef>
            <a:spcAft>
              <a:spcPct val="35000"/>
            </a:spcAft>
            <a:buNone/>
          </a:pPr>
          <a:r>
            <a:rPr lang="en-AU" sz="1900" kern="1200"/>
            <a:t>Avoids labelling (diagnoses and symptoms unless the consumer prefers that)</a:t>
          </a:r>
          <a:endParaRPr lang="en-US" sz="1900" kern="1200"/>
        </a:p>
      </dsp:txBody>
      <dsp:txXfrm>
        <a:off x="805853" y="1747548"/>
        <a:ext cx="10121975" cy="697708"/>
      </dsp:txXfrm>
    </dsp:sp>
    <dsp:sp modelId="{BE3ED3FB-531B-4801-B7A5-27212ED44F72}">
      <dsp:nvSpPr>
        <dsp:cNvPr id="0" name=""/>
        <dsp:cNvSpPr/>
      </dsp:nvSpPr>
      <dsp:spPr>
        <a:xfrm>
          <a:off x="0" y="2619684"/>
          <a:ext cx="10927829" cy="6977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CF54C9-218D-4270-B6E6-28F7C765051E}">
      <dsp:nvSpPr>
        <dsp:cNvPr id="0" name=""/>
        <dsp:cNvSpPr/>
      </dsp:nvSpPr>
      <dsp:spPr>
        <a:xfrm>
          <a:off x="211056" y="2776668"/>
          <a:ext cx="383739" cy="38373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5DB8542-9703-409F-92C1-7EA7BB0D5FFA}">
      <dsp:nvSpPr>
        <dsp:cNvPr id="0" name=""/>
        <dsp:cNvSpPr/>
      </dsp:nvSpPr>
      <dsp:spPr>
        <a:xfrm>
          <a:off x="805853" y="2619684"/>
          <a:ext cx="10121975" cy="697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841" tIns="73841" rIns="73841" bIns="73841" numCol="1" spcCol="1270" anchor="ctr" anchorCtr="0">
          <a:noAutofit/>
        </a:bodyPr>
        <a:lstStyle/>
        <a:p>
          <a:pPr marL="0" lvl="0" indent="0" algn="l" defTabSz="844550">
            <a:lnSpc>
              <a:spcPct val="90000"/>
            </a:lnSpc>
            <a:spcBef>
              <a:spcPct val="0"/>
            </a:spcBef>
            <a:spcAft>
              <a:spcPct val="35000"/>
            </a:spcAft>
            <a:buNone/>
          </a:pPr>
          <a:r>
            <a:rPr lang="en-AU" sz="1900" kern="1200"/>
            <a:t>Being trauma aware (deep topic will make slides if requested)</a:t>
          </a:r>
          <a:endParaRPr lang="en-US" sz="1900" kern="1200"/>
        </a:p>
      </dsp:txBody>
      <dsp:txXfrm>
        <a:off x="805853" y="2619684"/>
        <a:ext cx="10121975" cy="697708"/>
      </dsp:txXfrm>
    </dsp:sp>
    <dsp:sp modelId="{ACACE8B7-75D3-49D2-8FD0-05BF17ABB3FB}">
      <dsp:nvSpPr>
        <dsp:cNvPr id="0" name=""/>
        <dsp:cNvSpPr/>
      </dsp:nvSpPr>
      <dsp:spPr>
        <a:xfrm>
          <a:off x="0" y="3491820"/>
          <a:ext cx="10927829" cy="6977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B5F5CF-FE73-4817-911A-6B62F78E9AC2}">
      <dsp:nvSpPr>
        <dsp:cNvPr id="0" name=""/>
        <dsp:cNvSpPr/>
      </dsp:nvSpPr>
      <dsp:spPr>
        <a:xfrm>
          <a:off x="211056" y="3648804"/>
          <a:ext cx="383739" cy="38373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5780AD4-1CF7-4F2C-95B5-2A6786AAB678}">
      <dsp:nvSpPr>
        <dsp:cNvPr id="0" name=""/>
        <dsp:cNvSpPr/>
      </dsp:nvSpPr>
      <dsp:spPr>
        <a:xfrm>
          <a:off x="805853" y="3491820"/>
          <a:ext cx="4917523" cy="697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841" tIns="73841" rIns="73841" bIns="73841" numCol="1" spcCol="1270" anchor="ctr" anchorCtr="0">
          <a:noAutofit/>
        </a:bodyPr>
        <a:lstStyle/>
        <a:p>
          <a:pPr marL="0" lvl="0" indent="0" algn="l" defTabSz="844550">
            <a:lnSpc>
              <a:spcPct val="90000"/>
            </a:lnSpc>
            <a:spcBef>
              <a:spcPct val="0"/>
            </a:spcBef>
            <a:spcAft>
              <a:spcPct val="35000"/>
            </a:spcAft>
            <a:buNone/>
          </a:pPr>
          <a:r>
            <a:rPr lang="en-AU" sz="1900" kern="1200"/>
            <a:t>Focusses on reasonable personal recovery rather than health worker defined recovery </a:t>
          </a:r>
          <a:endParaRPr lang="en-US" sz="1900" kern="1200"/>
        </a:p>
      </dsp:txBody>
      <dsp:txXfrm>
        <a:off x="805853" y="3491820"/>
        <a:ext cx="4917523" cy="697708"/>
      </dsp:txXfrm>
    </dsp:sp>
    <dsp:sp modelId="{FAD6A4A8-9547-460F-9206-94180F033BB6}">
      <dsp:nvSpPr>
        <dsp:cNvPr id="0" name=""/>
        <dsp:cNvSpPr/>
      </dsp:nvSpPr>
      <dsp:spPr>
        <a:xfrm>
          <a:off x="5723376" y="3491820"/>
          <a:ext cx="5204452" cy="697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841" tIns="73841" rIns="73841" bIns="73841" numCol="1" spcCol="1270" anchor="ctr" anchorCtr="0">
          <a:noAutofit/>
        </a:bodyPr>
        <a:lstStyle/>
        <a:p>
          <a:pPr marL="0" lvl="0" indent="0" algn="l" defTabSz="577850">
            <a:lnSpc>
              <a:spcPct val="90000"/>
            </a:lnSpc>
            <a:spcBef>
              <a:spcPct val="0"/>
            </a:spcBef>
            <a:spcAft>
              <a:spcPct val="35000"/>
            </a:spcAft>
            <a:buNone/>
          </a:pPr>
          <a:r>
            <a:rPr lang="en-AU" sz="1300" kern="1200" dirty="0"/>
            <a:t>Hence, is more person centred rather than task oriented (that being said a biomedical approach user can be person centerer, just like a recovery approach user can be task oriented) </a:t>
          </a:r>
          <a:endParaRPr lang="en-US" sz="1300" kern="1200" dirty="0"/>
        </a:p>
      </dsp:txBody>
      <dsp:txXfrm>
        <a:off x="5723376" y="3491820"/>
        <a:ext cx="5204452" cy="69770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C7199-E946-B693-86FC-2C587F43F7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CE21829B-76F2-2CDD-E82B-26836EE307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C3661647-2045-C825-85AA-553BE535A626}"/>
              </a:ext>
            </a:extLst>
          </p:cNvPr>
          <p:cNvSpPr>
            <a:spLocks noGrp="1"/>
          </p:cNvSpPr>
          <p:nvPr>
            <p:ph type="dt" sz="half" idx="10"/>
          </p:nvPr>
        </p:nvSpPr>
        <p:spPr/>
        <p:txBody>
          <a:bodyPr/>
          <a:lstStyle/>
          <a:p>
            <a:fld id="{38743F94-461F-40B5-9CD6-969C2D284F37}" type="datetimeFigureOut">
              <a:rPr lang="en-AU" smtClean="0"/>
              <a:t>13/05/2026</a:t>
            </a:fld>
            <a:endParaRPr lang="en-AU"/>
          </a:p>
        </p:txBody>
      </p:sp>
      <p:sp>
        <p:nvSpPr>
          <p:cNvPr id="5" name="Footer Placeholder 4">
            <a:extLst>
              <a:ext uri="{FF2B5EF4-FFF2-40B4-BE49-F238E27FC236}">
                <a16:creationId xmlns:a16="http://schemas.microsoft.com/office/drawing/2014/main" id="{29C6C63B-3850-FC91-57CC-F9E9A3AF257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BBB0011-9A2E-8B75-37F5-87013EE1299D}"/>
              </a:ext>
            </a:extLst>
          </p:cNvPr>
          <p:cNvSpPr>
            <a:spLocks noGrp="1"/>
          </p:cNvSpPr>
          <p:nvPr>
            <p:ph type="sldNum" sz="quarter" idx="12"/>
          </p:nvPr>
        </p:nvSpPr>
        <p:spPr/>
        <p:txBody>
          <a:bodyPr/>
          <a:lstStyle/>
          <a:p>
            <a:fld id="{FF4FDDF7-157B-4F47-9FA5-7AB1E243DA78}" type="slidenum">
              <a:rPr lang="en-AU" smtClean="0"/>
              <a:t>‹#›</a:t>
            </a:fld>
            <a:endParaRPr lang="en-AU"/>
          </a:p>
        </p:txBody>
      </p:sp>
    </p:spTree>
    <p:extLst>
      <p:ext uri="{BB962C8B-B14F-4D97-AF65-F5344CB8AC3E}">
        <p14:creationId xmlns:p14="http://schemas.microsoft.com/office/powerpoint/2010/main" val="3396488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5EAD5-C0FA-DA01-4C6D-D9030C932E9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2ED3CAE1-2AF3-BCEF-13B7-6548F1B85C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9D76A673-605C-232D-A03B-CD1EE2D4D2D8}"/>
              </a:ext>
            </a:extLst>
          </p:cNvPr>
          <p:cNvSpPr>
            <a:spLocks noGrp="1"/>
          </p:cNvSpPr>
          <p:nvPr>
            <p:ph type="dt" sz="half" idx="10"/>
          </p:nvPr>
        </p:nvSpPr>
        <p:spPr/>
        <p:txBody>
          <a:bodyPr/>
          <a:lstStyle/>
          <a:p>
            <a:fld id="{38743F94-461F-40B5-9CD6-969C2D284F37}" type="datetimeFigureOut">
              <a:rPr lang="en-AU" smtClean="0"/>
              <a:t>13/05/2026</a:t>
            </a:fld>
            <a:endParaRPr lang="en-AU"/>
          </a:p>
        </p:txBody>
      </p:sp>
      <p:sp>
        <p:nvSpPr>
          <p:cNvPr id="5" name="Footer Placeholder 4">
            <a:extLst>
              <a:ext uri="{FF2B5EF4-FFF2-40B4-BE49-F238E27FC236}">
                <a16:creationId xmlns:a16="http://schemas.microsoft.com/office/drawing/2014/main" id="{9F58583E-9B99-AFDD-AA37-5E4341A4002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A4513E1-CC12-FBD7-333F-4ADE74E9D4C3}"/>
              </a:ext>
            </a:extLst>
          </p:cNvPr>
          <p:cNvSpPr>
            <a:spLocks noGrp="1"/>
          </p:cNvSpPr>
          <p:nvPr>
            <p:ph type="sldNum" sz="quarter" idx="12"/>
          </p:nvPr>
        </p:nvSpPr>
        <p:spPr/>
        <p:txBody>
          <a:bodyPr/>
          <a:lstStyle/>
          <a:p>
            <a:fld id="{FF4FDDF7-157B-4F47-9FA5-7AB1E243DA78}" type="slidenum">
              <a:rPr lang="en-AU" smtClean="0"/>
              <a:t>‹#›</a:t>
            </a:fld>
            <a:endParaRPr lang="en-AU"/>
          </a:p>
        </p:txBody>
      </p:sp>
    </p:spTree>
    <p:extLst>
      <p:ext uri="{BB962C8B-B14F-4D97-AF65-F5344CB8AC3E}">
        <p14:creationId xmlns:p14="http://schemas.microsoft.com/office/powerpoint/2010/main" val="17136072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F29C6-035D-20FF-7ED7-79C9AE4F18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233DCA5D-F549-8EC3-025D-AB81B2322F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26B40F-5F78-FDFE-4C80-B304D616356E}"/>
              </a:ext>
            </a:extLst>
          </p:cNvPr>
          <p:cNvSpPr>
            <a:spLocks noGrp="1"/>
          </p:cNvSpPr>
          <p:nvPr>
            <p:ph type="dt" sz="half" idx="10"/>
          </p:nvPr>
        </p:nvSpPr>
        <p:spPr/>
        <p:txBody>
          <a:bodyPr/>
          <a:lstStyle/>
          <a:p>
            <a:fld id="{38743F94-461F-40B5-9CD6-969C2D284F37}" type="datetimeFigureOut">
              <a:rPr lang="en-AU" smtClean="0"/>
              <a:t>13/05/2026</a:t>
            </a:fld>
            <a:endParaRPr lang="en-AU"/>
          </a:p>
        </p:txBody>
      </p:sp>
      <p:sp>
        <p:nvSpPr>
          <p:cNvPr id="5" name="Footer Placeholder 4">
            <a:extLst>
              <a:ext uri="{FF2B5EF4-FFF2-40B4-BE49-F238E27FC236}">
                <a16:creationId xmlns:a16="http://schemas.microsoft.com/office/drawing/2014/main" id="{2D1175C0-254E-9C4C-F8DB-E1781F75F12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6EAED9A-1418-A3AE-78A9-0006D2FB73A0}"/>
              </a:ext>
            </a:extLst>
          </p:cNvPr>
          <p:cNvSpPr>
            <a:spLocks noGrp="1"/>
          </p:cNvSpPr>
          <p:nvPr>
            <p:ph type="sldNum" sz="quarter" idx="12"/>
          </p:nvPr>
        </p:nvSpPr>
        <p:spPr/>
        <p:txBody>
          <a:bodyPr/>
          <a:lstStyle/>
          <a:p>
            <a:fld id="{FF4FDDF7-157B-4F47-9FA5-7AB1E243DA78}" type="slidenum">
              <a:rPr lang="en-AU" smtClean="0"/>
              <a:t>‹#›</a:t>
            </a:fld>
            <a:endParaRPr lang="en-AU"/>
          </a:p>
        </p:txBody>
      </p:sp>
    </p:spTree>
    <p:extLst>
      <p:ext uri="{BB962C8B-B14F-4D97-AF65-F5344CB8AC3E}">
        <p14:creationId xmlns:p14="http://schemas.microsoft.com/office/powerpoint/2010/main" val="2469549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B398F-9A27-E9FE-C445-427CDB2166A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15B174C6-380B-A426-402C-EC325A8B0A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B01258D3-A37A-3D5A-78EB-1A7F01CE96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31BDACB8-8555-F650-0764-FD1B07973FDC}"/>
              </a:ext>
            </a:extLst>
          </p:cNvPr>
          <p:cNvSpPr>
            <a:spLocks noGrp="1"/>
          </p:cNvSpPr>
          <p:nvPr>
            <p:ph type="dt" sz="half" idx="10"/>
          </p:nvPr>
        </p:nvSpPr>
        <p:spPr/>
        <p:txBody>
          <a:bodyPr/>
          <a:lstStyle/>
          <a:p>
            <a:fld id="{38743F94-461F-40B5-9CD6-969C2D284F37}" type="datetimeFigureOut">
              <a:rPr lang="en-AU" smtClean="0"/>
              <a:t>13/05/2026</a:t>
            </a:fld>
            <a:endParaRPr lang="en-AU"/>
          </a:p>
        </p:txBody>
      </p:sp>
      <p:sp>
        <p:nvSpPr>
          <p:cNvPr id="6" name="Footer Placeholder 5">
            <a:extLst>
              <a:ext uri="{FF2B5EF4-FFF2-40B4-BE49-F238E27FC236}">
                <a16:creationId xmlns:a16="http://schemas.microsoft.com/office/drawing/2014/main" id="{E7F686A2-75CC-1245-0E9B-83E258B5320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6D4BEEC7-A2FD-00A9-F83A-D38A69FB306D}"/>
              </a:ext>
            </a:extLst>
          </p:cNvPr>
          <p:cNvSpPr>
            <a:spLocks noGrp="1"/>
          </p:cNvSpPr>
          <p:nvPr>
            <p:ph type="sldNum" sz="quarter" idx="12"/>
          </p:nvPr>
        </p:nvSpPr>
        <p:spPr/>
        <p:txBody>
          <a:bodyPr/>
          <a:lstStyle/>
          <a:p>
            <a:fld id="{FF4FDDF7-157B-4F47-9FA5-7AB1E243DA78}" type="slidenum">
              <a:rPr lang="en-AU" smtClean="0"/>
              <a:t>‹#›</a:t>
            </a:fld>
            <a:endParaRPr lang="en-AU"/>
          </a:p>
        </p:txBody>
      </p:sp>
    </p:spTree>
    <p:extLst>
      <p:ext uri="{BB962C8B-B14F-4D97-AF65-F5344CB8AC3E}">
        <p14:creationId xmlns:p14="http://schemas.microsoft.com/office/powerpoint/2010/main" val="700281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841D5-583B-F14C-9912-99A4C585604A}"/>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942AD28-2799-D1E6-9B65-8104D5DB33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C48AC7-9723-A926-365B-7DB0770986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E626ACF5-D673-D5DD-FFF8-20437AAB54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0C24F8-041E-0393-C80C-3EF1D3EE3C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D9A891AE-BD68-D253-C061-32DA9932D2FA}"/>
              </a:ext>
            </a:extLst>
          </p:cNvPr>
          <p:cNvSpPr>
            <a:spLocks noGrp="1"/>
          </p:cNvSpPr>
          <p:nvPr>
            <p:ph type="dt" sz="half" idx="10"/>
          </p:nvPr>
        </p:nvSpPr>
        <p:spPr/>
        <p:txBody>
          <a:bodyPr/>
          <a:lstStyle/>
          <a:p>
            <a:fld id="{38743F94-461F-40B5-9CD6-969C2D284F37}" type="datetimeFigureOut">
              <a:rPr lang="en-AU" smtClean="0"/>
              <a:t>13/05/2026</a:t>
            </a:fld>
            <a:endParaRPr lang="en-AU"/>
          </a:p>
        </p:txBody>
      </p:sp>
      <p:sp>
        <p:nvSpPr>
          <p:cNvPr id="8" name="Footer Placeholder 7">
            <a:extLst>
              <a:ext uri="{FF2B5EF4-FFF2-40B4-BE49-F238E27FC236}">
                <a16:creationId xmlns:a16="http://schemas.microsoft.com/office/drawing/2014/main" id="{41F28F3F-5CAB-81E0-36D7-435B6B6C3D6B}"/>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CB8D620E-81AA-0B49-DDB2-DD6D88329BCA}"/>
              </a:ext>
            </a:extLst>
          </p:cNvPr>
          <p:cNvSpPr>
            <a:spLocks noGrp="1"/>
          </p:cNvSpPr>
          <p:nvPr>
            <p:ph type="sldNum" sz="quarter" idx="12"/>
          </p:nvPr>
        </p:nvSpPr>
        <p:spPr/>
        <p:txBody>
          <a:bodyPr/>
          <a:lstStyle/>
          <a:p>
            <a:fld id="{FF4FDDF7-157B-4F47-9FA5-7AB1E243DA78}" type="slidenum">
              <a:rPr lang="en-AU" smtClean="0"/>
              <a:t>‹#›</a:t>
            </a:fld>
            <a:endParaRPr lang="en-AU"/>
          </a:p>
        </p:txBody>
      </p:sp>
    </p:spTree>
    <p:extLst>
      <p:ext uri="{BB962C8B-B14F-4D97-AF65-F5344CB8AC3E}">
        <p14:creationId xmlns:p14="http://schemas.microsoft.com/office/powerpoint/2010/main" val="3998254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4D8DB-38C6-DB76-B51D-71DCB4BDEC5C}"/>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6CC8499D-7E66-3B3F-9EEC-21989F4EC483}"/>
              </a:ext>
            </a:extLst>
          </p:cNvPr>
          <p:cNvSpPr>
            <a:spLocks noGrp="1"/>
          </p:cNvSpPr>
          <p:nvPr>
            <p:ph type="dt" sz="half" idx="10"/>
          </p:nvPr>
        </p:nvSpPr>
        <p:spPr/>
        <p:txBody>
          <a:bodyPr/>
          <a:lstStyle/>
          <a:p>
            <a:fld id="{38743F94-461F-40B5-9CD6-969C2D284F37}" type="datetimeFigureOut">
              <a:rPr lang="en-AU" smtClean="0"/>
              <a:t>13/05/2026</a:t>
            </a:fld>
            <a:endParaRPr lang="en-AU"/>
          </a:p>
        </p:txBody>
      </p:sp>
      <p:sp>
        <p:nvSpPr>
          <p:cNvPr id="4" name="Footer Placeholder 3">
            <a:extLst>
              <a:ext uri="{FF2B5EF4-FFF2-40B4-BE49-F238E27FC236}">
                <a16:creationId xmlns:a16="http://schemas.microsoft.com/office/drawing/2014/main" id="{A7BBFDB3-D8EE-BFEB-A5A3-4837F7FA6706}"/>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E8E295BF-B54B-85EC-22FA-DBDC15D927B5}"/>
              </a:ext>
            </a:extLst>
          </p:cNvPr>
          <p:cNvSpPr>
            <a:spLocks noGrp="1"/>
          </p:cNvSpPr>
          <p:nvPr>
            <p:ph type="sldNum" sz="quarter" idx="12"/>
          </p:nvPr>
        </p:nvSpPr>
        <p:spPr/>
        <p:txBody>
          <a:bodyPr/>
          <a:lstStyle/>
          <a:p>
            <a:fld id="{FF4FDDF7-157B-4F47-9FA5-7AB1E243DA78}" type="slidenum">
              <a:rPr lang="en-AU" smtClean="0"/>
              <a:t>‹#›</a:t>
            </a:fld>
            <a:endParaRPr lang="en-AU"/>
          </a:p>
        </p:txBody>
      </p:sp>
    </p:spTree>
    <p:extLst>
      <p:ext uri="{BB962C8B-B14F-4D97-AF65-F5344CB8AC3E}">
        <p14:creationId xmlns:p14="http://schemas.microsoft.com/office/powerpoint/2010/main" val="1184633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2889BA-1589-BE03-BE85-148ADC81FF07}"/>
              </a:ext>
            </a:extLst>
          </p:cNvPr>
          <p:cNvSpPr>
            <a:spLocks noGrp="1"/>
          </p:cNvSpPr>
          <p:nvPr>
            <p:ph type="dt" sz="half" idx="10"/>
          </p:nvPr>
        </p:nvSpPr>
        <p:spPr/>
        <p:txBody>
          <a:bodyPr/>
          <a:lstStyle/>
          <a:p>
            <a:fld id="{38743F94-461F-40B5-9CD6-969C2D284F37}" type="datetimeFigureOut">
              <a:rPr lang="en-AU" smtClean="0"/>
              <a:t>13/05/2026</a:t>
            </a:fld>
            <a:endParaRPr lang="en-AU"/>
          </a:p>
        </p:txBody>
      </p:sp>
      <p:sp>
        <p:nvSpPr>
          <p:cNvPr id="3" name="Footer Placeholder 2">
            <a:extLst>
              <a:ext uri="{FF2B5EF4-FFF2-40B4-BE49-F238E27FC236}">
                <a16:creationId xmlns:a16="http://schemas.microsoft.com/office/drawing/2014/main" id="{44365045-B9F6-AD92-0716-231B4C7E30F3}"/>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081C87C7-5B35-C22A-63D4-349F6DEA1E86}"/>
              </a:ext>
            </a:extLst>
          </p:cNvPr>
          <p:cNvSpPr>
            <a:spLocks noGrp="1"/>
          </p:cNvSpPr>
          <p:nvPr>
            <p:ph type="sldNum" sz="quarter" idx="12"/>
          </p:nvPr>
        </p:nvSpPr>
        <p:spPr/>
        <p:txBody>
          <a:bodyPr/>
          <a:lstStyle/>
          <a:p>
            <a:fld id="{FF4FDDF7-157B-4F47-9FA5-7AB1E243DA78}" type="slidenum">
              <a:rPr lang="en-AU" smtClean="0"/>
              <a:t>‹#›</a:t>
            </a:fld>
            <a:endParaRPr lang="en-AU"/>
          </a:p>
        </p:txBody>
      </p:sp>
    </p:spTree>
    <p:extLst>
      <p:ext uri="{BB962C8B-B14F-4D97-AF65-F5344CB8AC3E}">
        <p14:creationId xmlns:p14="http://schemas.microsoft.com/office/powerpoint/2010/main" val="1690019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C59A8-A3D2-7FF0-6247-1FDD2575C2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005A4CA5-1965-34A1-FCF9-EE68F53951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3A86584E-36FD-732D-CD31-6B314445B5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BD2364-D614-C554-E7D0-174F01F4C0EE}"/>
              </a:ext>
            </a:extLst>
          </p:cNvPr>
          <p:cNvSpPr>
            <a:spLocks noGrp="1"/>
          </p:cNvSpPr>
          <p:nvPr>
            <p:ph type="dt" sz="half" idx="10"/>
          </p:nvPr>
        </p:nvSpPr>
        <p:spPr/>
        <p:txBody>
          <a:bodyPr/>
          <a:lstStyle/>
          <a:p>
            <a:fld id="{38743F94-461F-40B5-9CD6-969C2D284F37}" type="datetimeFigureOut">
              <a:rPr lang="en-AU" smtClean="0"/>
              <a:t>13/05/2026</a:t>
            </a:fld>
            <a:endParaRPr lang="en-AU"/>
          </a:p>
        </p:txBody>
      </p:sp>
      <p:sp>
        <p:nvSpPr>
          <p:cNvPr id="6" name="Footer Placeholder 5">
            <a:extLst>
              <a:ext uri="{FF2B5EF4-FFF2-40B4-BE49-F238E27FC236}">
                <a16:creationId xmlns:a16="http://schemas.microsoft.com/office/drawing/2014/main" id="{6A8157EF-BDF7-8460-5DED-DB319259ADE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410BF46-01AC-7B82-6B90-E93A3CDCE61F}"/>
              </a:ext>
            </a:extLst>
          </p:cNvPr>
          <p:cNvSpPr>
            <a:spLocks noGrp="1"/>
          </p:cNvSpPr>
          <p:nvPr>
            <p:ph type="sldNum" sz="quarter" idx="12"/>
          </p:nvPr>
        </p:nvSpPr>
        <p:spPr/>
        <p:txBody>
          <a:bodyPr/>
          <a:lstStyle/>
          <a:p>
            <a:fld id="{FF4FDDF7-157B-4F47-9FA5-7AB1E243DA78}" type="slidenum">
              <a:rPr lang="en-AU" smtClean="0"/>
              <a:t>‹#›</a:t>
            </a:fld>
            <a:endParaRPr lang="en-AU"/>
          </a:p>
        </p:txBody>
      </p:sp>
    </p:spTree>
    <p:extLst>
      <p:ext uri="{BB962C8B-B14F-4D97-AF65-F5344CB8AC3E}">
        <p14:creationId xmlns:p14="http://schemas.microsoft.com/office/powerpoint/2010/main" val="3823673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054DE-AED2-34F8-F9E1-29FEF9A9FD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5DD7F9FF-9E5C-225E-62CB-0CBB8D7DBA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3ECBBB9C-E75C-CA8F-4A40-BBE027FB34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AE73BA-5E5C-EFB6-2587-ADF8DD0ECD93}"/>
              </a:ext>
            </a:extLst>
          </p:cNvPr>
          <p:cNvSpPr>
            <a:spLocks noGrp="1"/>
          </p:cNvSpPr>
          <p:nvPr>
            <p:ph type="dt" sz="half" idx="10"/>
          </p:nvPr>
        </p:nvSpPr>
        <p:spPr/>
        <p:txBody>
          <a:bodyPr/>
          <a:lstStyle/>
          <a:p>
            <a:fld id="{38743F94-461F-40B5-9CD6-969C2D284F37}" type="datetimeFigureOut">
              <a:rPr lang="en-AU" smtClean="0"/>
              <a:t>13/05/2026</a:t>
            </a:fld>
            <a:endParaRPr lang="en-AU"/>
          </a:p>
        </p:txBody>
      </p:sp>
      <p:sp>
        <p:nvSpPr>
          <p:cNvPr id="6" name="Footer Placeholder 5">
            <a:extLst>
              <a:ext uri="{FF2B5EF4-FFF2-40B4-BE49-F238E27FC236}">
                <a16:creationId xmlns:a16="http://schemas.microsoft.com/office/drawing/2014/main" id="{A7B39F2E-F0B6-2C63-D87F-86E7DF782D6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712D7D0B-1442-61BA-0C42-F284CB7C4310}"/>
              </a:ext>
            </a:extLst>
          </p:cNvPr>
          <p:cNvSpPr>
            <a:spLocks noGrp="1"/>
          </p:cNvSpPr>
          <p:nvPr>
            <p:ph type="sldNum" sz="quarter" idx="12"/>
          </p:nvPr>
        </p:nvSpPr>
        <p:spPr/>
        <p:txBody>
          <a:bodyPr/>
          <a:lstStyle/>
          <a:p>
            <a:fld id="{FF4FDDF7-157B-4F47-9FA5-7AB1E243DA78}" type="slidenum">
              <a:rPr lang="en-AU" smtClean="0"/>
              <a:t>‹#›</a:t>
            </a:fld>
            <a:endParaRPr lang="en-AU"/>
          </a:p>
        </p:txBody>
      </p:sp>
    </p:spTree>
    <p:extLst>
      <p:ext uri="{BB962C8B-B14F-4D97-AF65-F5344CB8AC3E}">
        <p14:creationId xmlns:p14="http://schemas.microsoft.com/office/powerpoint/2010/main" val="2713235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55714-C164-304B-58C8-7E93CFF0EDA9}"/>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8E643840-8C9B-740D-03CA-22F715644E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D0B4CAC-20C2-F705-C714-8604FD53775F}"/>
              </a:ext>
            </a:extLst>
          </p:cNvPr>
          <p:cNvSpPr>
            <a:spLocks noGrp="1"/>
          </p:cNvSpPr>
          <p:nvPr>
            <p:ph type="dt" sz="half" idx="10"/>
          </p:nvPr>
        </p:nvSpPr>
        <p:spPr/>
        <p:txBody>
          <a:bodyPr/>
          <a:lstStyle/>
          <a:p>
            <a:fld id="{38743F94-461F-40B5-9CD6-969C2D284F37}" type="datetimeFigureOut">
              <a:rPr lang="en-AU" smtClean="0"/>
              <a:t>13/05/2026</a:t>
            </a:fld>
            <a:endParaRPr lang="en-AU"/>
          </a:p>
        </p:txBody>
      </p:sp>
      <p:sp>
        <p:nvSpPr>
          <p:cNvPr id="5" name="Footer Placeholder 4">
            <a:extLst>
              <a:ext uri="{FF2B5EF4-FFF2-40B4-BE49-F238E27FC236}">
                <a16:creationId xmlns:a16="http://schemas.microsoft.com/office/drawing/2014/main" id="{29D00F43-3F28-96B5-DE17-894819C410F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576BE0B-23FB-9FE5-C38D-31E766B61C3D}"/>
              </a:ext>
            </a:extLst>
          </p:cNvPr>
          <p:cNvSpPr>
            <a:spLocks noGrp="1"/>
          </p:cNvSpPr>
          <p:nvPr>
            <p:ph type="sldNum" sz="quarter" idx="12"/>
          </p:nvPr>
        </p:nvSpPr>
        <p:spPr/>
        <p:txBody>
          <a:bodyPr/>
          <a:lstStyle/>
          <a:p>
            <a:fld id="{FF4FDDF7-157B-4F47-9FA5-7AB1E243DA78}" type="slidenum">
              <a:rPr lang="en-AU" smtClean="0"/>
              <a:t>‹#›</a:t>
            </a:fld>
            <a:endParaRPr lang="en-AU"/>
          </a:p>
        </p:txBody>
      </p:sp>
    </p:spTree>
    <p:extLst>
      <p:ext uri="{BB962C8B-B14F-4D97-AF65-F5344CB8AC3E}">
        <p14:creationId xmlns:p14="http://schemas.microsoft.com/office/powerpoint/2010/main" val="22978404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5A0D27-20ED-C438-5FDE-B2F3E63684F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A424BBB7-BA18-4491-6021-20A646A986C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4EF0764-5FD1-6757-8A05-5E8991114AF3}"/>
              </a:ext>
            </a:extLst>
          </p:cNvPr>
          <p:cNvSpPr>
            <a:spLocks noGrp="1"/>
          </p:cNvSpPr>
          <p:nvPr>
            <p:ph type="dt" sz="half" idx="10"/>
          </p:nvPr>
        </p:nvSpPr>
        <p:spPr/>
        <p:txBody>
          <a:bodyPr/>
          <a:lstStyle/>
          <a:p>
            <a:fld id="{38743F94-461F-40B5-9CD6-969C2D284F37}" type="datetimeFigureOut">
              <a:rPr lang="en-AU" smtClean="0"/>
              <a:t>13/05/2026</a:t>
            </a:fld>
            <a:endParaRPr lang="en-AU"/>
          </a:p>
        </p:txBody>
      </p:sp>
      <p:sp>
        <p:nvSpPr>
          <p:cNvPr id="5" name="Footer Placeholder 4">
            <a:extLst>
              <a:ext uri="{FF2B5EF4-FFF2-40B4-BE49-F238E27FC236}">
                <a16:creationId xmlns:a16="http://schemas.microsoft.com/office/drawing/2014/main" id="{B2754588-E201-682F-925B-620BAD4A83C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F0CBA81-C877-30AF-DBDA-AD7B8B9D4B04}"/>
              </a:ext>
            </a:extLst>
          </p:cNvPr>
          <p:cNvSpPr>
            <a:spLocks noGrp="1"/>
          </p:cNvSpPr>
          <p:nvPr>
            <p:ph type="sldNum" sz="quarter" idx="12"/>
          </p:nvPr>
        </p:nvSpPr>
        <p:spPr/>
        <p:txBody>
          <a:bodyPr/>
          <a:lstStyle/>
          <a:p>
            <a:fld id="{FF4FDDF7-157B-4F47-9FA5-7AB1E243DA78}" type="slidenum">
              <a:rPr lang="en-AU" smtClean="0"/>
              <a:t>‹#›</a:t>
            </a:fld>
            <a:endParaRPr lang="en-AU"/>
          </a:p>
        </p:txBody>
      </p:sp>
    </p:spTree>
    <p:extLst>
      <p:ext uri="{BB962C8B-B14F-4D97-AF65-F5344CB8AC3E}">
        <p14:creationId xmlns:p14="http://schemas.microsoft.com/office/powerpoint/2010/main" val="166432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27E3F8-B666-2DEF-32B7-3042E8FB02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BCE20B0B-8EE9-138C-ADF0-A4564AA49D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C4E3F859-A156-7B10-A1FD-7BD863508F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8743F94-461F-40B5-9CD6-969C2D284F37}" type="datetimeFigureOut">
              <a:rPr lang="en-AU" smtClean="0"/>
              <a:t>13/05/2026</a:t>
            </a:fld>
            <a:endParaRPr lang="en-AU"/>
          </a:p>
        </p:txBody>
      </p:sp>
      <p:sp>
        <p:nvSpPr>
          <p:cNvPr id="5" name="Footer Placeholder 4">
            <a:extLst>
              <a:ext uri="{FF2B5EF4-FFF2-40B4-BE49-F238E27FC236}">
                <a16:creationId xmlns:a16="http://schemas.microsoft.com/office/drawing/2014/main" id="{8FEAC3A9-513C-036C-D3C3-C2C9CAD181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D2A6F1EC-AAB2-3E7F-C74C-299A0E3433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F4FDDF7-157B-4F47-9FA5-7AB1E243DA78}" type="slidenum">
              <a:rPr lang="en-AU" smtClean="0"/>
              <a:t>‹#›</a:t>
            </a:fld>
            <a:endParaRPr lang="en-AU"/>
          </a:p>
        </p:txBody>
      </p:sp>
    </p:spTree>
    <p:extLst>
      <p:ext uri="{BB962C8B-B14F-4D97-AF65-F5344CB8AC3E}">
        <p14:creationId xmlns:p14="http://schemas.microsoft.com/office/powerpoint/2010/main" val="4271760119"/>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hyperlink" Target="https://mhcc.org.au/wp-content/uploads/2022/10/Recovery-Oriented-Language-Guide-3rd-edition.pdf"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mhcc.org.au/our-work/resources/" TargetMode="External"/><Relationship Id="rId2" Type="http://schemas.openxmlformats.org/officeDocument/2006/relationships/hyperlink" Target="https://www.researchintorecovery.com/files/100%20Ways%20to%20support%20recovery%202nd%20edition.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32D45EE4-C4F0-4F72-B1C6-39F596D138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C459BAD-4279-4A9D-B0C5-662C5F5ED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3203463" y="-2060461"/>
            <a:ext cx="5649003" cy="10651671"/>
          </a:xfrm>
          <a:custGeom>
            <a:avLst/>
            <a:gdLst>
              <a:gd name="csX0" fmla="*/ 0 w 5649003"/>
              <a:gd name="csY0" fmla="*/ 5325836 h 10651671"/>
              <a:gd name="csX1" fmla="*/ 2824502 w 5649003"/>
              <a:gd name="csY1" fmla="*/ 0 h 10651671"/>
              <a:gd name="csX2" fmla="*/ 5649004 w 5649003"/>
              <a:gd name="csY2" fmla="*/ 5325836 h 10651671"/>
              <a:gd name="csX3" fmla="*/ 2824502 w 5649003"/>
              <a:gd name="csY3" fmla="*/ 10651672 h 10651671"/>
              <a:gd name="csX4" fmla="*/ 0 w 5649003"/>
              <a:gd name="csY4" fmla="*/ 5325836 h 10651671"/>
            </a:gdLst>
            <a:ahLst/>
            <a:cxnLst>
              <a:cxn ang="0">
                <a:pos x="csX0" y="csY0"/>
              </a:cxn>
              <a:cxn ang="0">
                <a:pos x="csX1" y="csY1"/>
              </a:cxn>
              <a:cxn ang="0">
                <a:pos x="csX2" y="csY2"/>
              </a:cxn>
              <a:cxn ang="0">
                <a:pos x="csX3" y="csY3"/>
              </a:cxn>
              <a:cxn ang="0">
                <a:pos x="csX4" y="csY4"/>
              </a:cxn>
            </a:cxnLst>
            <a:rect l="l" t="t" r="r" b="b"/>
            <a:pathLst>
              <a:path w="5649003" h="10651671" fill="none" extrusionOk="0">
                <a:moveTo>
                  <a:pt x="0" y="5325836"/>
                </a:moveTo>
                <a:cubicBezTo>
                  <a:pt x="186946" y="2320485"/>
                  <a:pt x="1438121" y="-52385"/>
                  <a:pt x="2824502" y="0"/>
                </a:cubicBezTo>
                <a:cubicBezTo>
                  <a:pt x="4703838" y="-43168"/>
                  <a:pt x="5583840" y="2369660"/>
                  <a:pt x="5649004" y="5325836"/>
                </a:cubicBezTo>
                <a:cubicBezTo>
                  <a:pt x="5518761" y="8289338"/>
                  <a:pt x="4285196" y="10894014"/>
                  <a:pt x="2824502" y="10651672"/>
                </a:cubicBezTo>
                <a:cubicBezTo>
                  <a:pt x="1536945" y="11016699"/>
                  <a:pt x="142947" y="8418643"/>
                  <a:pt x="0" y="5325836"/>
                </a:cubicBezTo>
                <a:close/>
              </a:path>
              <a:path w="5649003" h="10651671" stroke="0" extrusionOk="0">
                <a:moveTo>
                  <a:pt x="0" y="5325836"/>
                </a:moveTo>
                <a:cubicBezTo>
                  <a:pt x="-54350" y="2332108"/>
                  <a:pt x="1351726" y="167869"/>
                  <a:pt x="2824502" y="0"/>
                </a:cubicBezTo>
                <a:cubicBezTo>
                  <a:pt x="4182679" y="-143942"/>
                  <a:pt x="5672665" y="2549517"/>
                  <a:pt x="5649004" y="5325836"/>
                </a:cubicBezTo>
                <a:cubicBezTo>
                  <a:pt x="5518596" y="8280244"/>
                  <a:pt x="4081190" y="10622204"/>
                  <a:pt x="2824502" y="10651672"/>
                </a:cubicBezTo>
                <a:cubicBezTo>
                  <a:pt x="1216708" y="10537144"/>
                  <a:pt x="-100850" y="8264979"/>
                  <a:pt x="0" y="5325836"/>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3743190">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0D626A-EDF2-B838-69DE-D91962573450}"/>
              </a:ext>
            </a:extLst>
          </p:cNvPr>
          <p:cNvSpPr>
            <a:spLocks noGrp="1"/>
          </p:cNvSpPr>
          <p:nvPr>
            <p:ph type="ctrTitle"/>
          </p:nvPr>
        </p:nvSpPr>
        <p:spPr>
          <a:xfrm>
            <a:off x="2066544" y="1911096"/>
            <a:ext cx="8055864" cy="2076651"/>
          </a:xfrm>
        </p:spPr>
        <p:txBody>
          <a:bodyPr anchor="b">
            <a:normAutofit/>
          </a:bodyPr>
          <a:lstStyle/>
          <a:p>
            <a:r>
              <a:rPr lang="en-AU" sz="4600">
                <a:solidFill>
                  <a:srgbClr val="FFFFFF"/>
                </a:solidFill>
              </a:rPr>
              <a:t>Trauma informed care (the recovery approach to mental health)</a:t>
            </a:r>
          </a:p>
        </p:txBody>
      </p:sp>
      <p:sp>
        <p:nvSpPr>
          <p:cNvPr id="11" name="sketch line">
            <a:extLst>
              <a:ext uri="{FF2B5EF4-FFF2-40B4-BE49-F238E27FC236}">
                <a16:creationId xmlns:a16="http://schemas.microsoft.com/office/drawing/2014/main" id="{0953BC39-9D68-40BE-BF3C-5C4EB782AF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173498"/>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75066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4167FD-AE31-E151-3632-7F6AB8E580FA}"/>
              </a:ext>
            </a:extLst>
          </p:cNvPr>
          <p:cNvSpPr>
            <a:spLocks noGrp="1"/>
          </p:cNvSpPr>
          <p:nvPr>
            <p:ph type="title"/>
          </p:nvPr>
        </p:nvSpPr>
        <p:spPr>
          <a:xfrm>
            <a:off x="838200" y="556995"/>
            <a:ext cx="10515600" cy="1133693"/>
          </a:xfrm>
        </p:spPr>
        <p:txBody>
          <a:bodyPr>
            <a:normAutofit/>
          </a:bodyPr>
          <a:lstStyle/>
          <a:p>
            <a:r>
              <a:rPr lang="en-AU" sz="5200"/>
              <a:t>A bit of history</a:t>
            </a:r>
          </a:p>
        </p:txBody>
      </p:sp>
      <p:graphicFrame>
        <p:nvGraphicFramePr>
          <p:cNvPr id="5" name="Content Placeholder 2">
            <a:extLst>
              <a:ext uri="{FF2B5EF4-FFF2-40B4-BE49-F238E27FC236}">
                <a16:creationId xmlns:a16="http://schemas.microsoft.com/office/drawing/2014/main" id="{7F1991F9-8184-01F7-62CD-2CAE0F6408A8}"/>
              </a:ext>
            </a:extLst>
          </p:cNvPr>
          <p:cNvGraphicFramePr>
            <a:graphicFrameLocks noGrp="1"/>
          </p:cNvGraphicFramePr>
          <p:nvPr>
            <p:ph idx="1"/>
            <p:extLst>
              <p:ext uri="{D42A27DB-BD31-4B8C-83A1-F6EECF244321}">
                <p14:modId xmlns:p14="http://schemas.microsoft.com/office/powerpoint/2010/main" val="52830975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13364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882D3-4CF7-E8FD-CE8A-2015274632B9}"/>
              </a:ext>
            </a:extLst>
          </p:cNvPr>
          <p:cNvSpPr>
            <a:spLocks noGrp="1"/>
          </p:cNvSpPr>
          <p:nvPr>
            <p:ph type="title"/>
          </p:nvPr>
        </p:nvSpPr>
        <p:spPr>
          <a:xfrm>
            <a:off x="1371597" y="348865"/>
            <a:ext cx="10044023" cy="877729"/>
          </a:xfrm>
        </p:spPr>
        <p:txBody>
          <a:bodyPr anchor="ctr">
            <a:normAutofit/>
          </a:bodyPr>
          <a:lstStyle/>
          <a:p>
            <a:r>
              <a:rPr lang="en-AU" sz="3400" dirty="0"/>
              <a:t>What is the recovery approach / trauma informed care?</a:t>
            </a:r>
          </a:p>
        </p:txBody>
      </p:sp>
      <p:graphicFrame>
        <p:nvGraphicFramePr>
          <p:cNvPr id="29" name="Content Placeholder 2">
            <a:extLst>
              <a:ext uri="{FF2B5EF4-FFF2-40B4-BE49-F238E27FC236}">
                <a16:creationId xmlns:a16="http://schemas.microsoft.com/office/drawing/2014/main" id="{931C3A8B-631F-E0D0-6758-095B60D87AF8}"/>
              </a:ext>
            </a:extLst>
          </p:cNvPr>
          <p:cNvGraphicFramePr>
            <a:graphicFrameLocks noGrp="1"/>
          </p:cNvGraphicFramePr>
          <p:nvPr>
            <p:ph idx="1"/>
            <p:extLst>
              <p:ext uri="{D42A27DB-BD31-4B8C-83A1-F6EECF244321}">
                <p14:modId xmlns:p14="http://schemas.microsoft.com/office/powerpoint/2010/main" val="1381422850"/>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466102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48571-6F37-2FFC-6450-71B2585903EA}"/>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kern="1200">
                <a:solidFill>
                  <a:schemeClr val="tx1"/>
                </a:solidFill>
                <a:latin typeface="+mj-lt"/>
                <a:ea typeface="+mj-ea"/>
                <a:cs typeface="+mj-cs"/>
              </a:rPr>
              <a:t>The CHIME framework for personal recovery	</a:t>
            </a:r>
          </a:p>
        </p:txBody>
      </p:sp>
      <p:sp>
        <p:nvSpPr>
          <p:cNvPr id="3" name="Content Placeholder 2">
            <a:extLst>
              <a:ext uri="{FF2B5EF4-FFF2-40B4-BE49-F238E27FC236}">
                <a16:creationId xmlns:a16="http://schemas.microsoft.com/office/drawing/2014/main" id="{3EE7CC7B-0CB2-DDAA-F183-13B1B76840CA}"/>
              </a:ext>
            </a:extLst>
          </p:cNvPr>
          <p:cNvSpPr>
            <a:spLocks noGrp="1"/>
          </p:cNvSpPr>
          <p:nvPr>
            <p:ph idx="1"/>
          </p:nvPr>
        </p:nvSpPr>
        <p:spPr>
          <a:xfrm>
            <a:off x="1882588" y="1311818"/>
            <a:ext cx="8426823" cy="397567"/>
          </a:xfrm>
        </p:spPr>
        <p:txBody>
          <a:bodyPr vert="horz" lIns="91440" tIns="45720" rIns="91440" bIns="45720" rtlCol="0">
            <a:normAutofit/>
          </a:bodyPr>
          <a:lstStyle/>
          <a:p>
            <a:pPr marL="0" indent="0" algn="ctr">
              <a:buNone/>
            </a:pPr>
            <a:r>
              <a:rPr lang="en-US" sz="1600" kern="1200">
                <a:solidFill>
                  <a:schemeClr val="tx1"/>
                </a:solidFill>
                <a:latin typeface="+mn-lt"/>
                <a:ea typeface="+mn-ea"/>
                <a:cs typeface="+mn-cs"/>
              </a:rPr>
              <a:t>The recovery approach is labelled as doing subjectively well in the following 5 domains</a:t>
            </a:r>
          </a:p>
        </p:txBody>
      </p:sp>
      <p:pic>
        <p:nvPicPr>
          <p:cNvPr id="5" name="Picture 4">
            <a:extLst>
              <a:ext uri="{FF2B5EF4-FFF2-40B4-BE49-F238E27FC236}">
                <a16:creationId xmlns:a16="http://schemas.microsoft.com/office/drawing/2014/main" id="{F2FBF48E-778A-C406-08A7-BB4368BEC1F7}"/>
              </a:ext>
            </a:extLst>
          </p:cNvPr>
          <p:cNvPicPr>
            <a:picLocks noChangeAspect="1"/>
          </p:cNvPicPr>
          <p:nvPr/>
        </p:nvPicPr>
        <p:blipFill>
          <a:blip r:embed="rId2"/>
          <a:stretch>
            <a:fillRect/>
          </a:stretch>
        </p:blipFill>
        <p:spPr>
          <a:xfrm>
            <a:off x="1961880" y="2354239"/>
            <a:ext cx="8268240" cy="3948085"/>
          </a:xfrm>
          <a:prstGeom prst="rect">
            <a:avLst/>
          </a:prstGeom>
        </p:spPr>
      </p:pic>
    </p:spTree>
    <p:extLst>
      <p:ext uri="{BB962C8B-B14F-4D97-AF65-F5344CB8AC3E}">
        <p14:creationId xmlns:p14="http://schemas.microsoft.com/office/powerpoint/2010/main" val="3911182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A0084-CC5E-44F9-D27E-537C4CE7367F}"/>
              </a:ext>
            </a:extLst>
          </p:cNvPr>
          <p:cNvSpPr>
            <a:spLocks noGrp="1"/>
          </p:cNvSpPr>
          <p:nvPr>
            <p:ph type="title"/>
          </p:nvPr>
        </p:nvSpPr>
        <p:spPr/>
        <p:txBody>
          <a:bodyPr>
            <a:normAutofit fontScale="90000"/>
          </a:bodyPr>
          <a:lstStyle/>
          <a:p>
            <a:r>
              <a:rPr lang="en-GB" dirty="0"/>
              <a:t>Overall difference: Personal (recovery approach) vs clinical (biomedical approach) recovery</a:t>
            </a:r>
            <a:endParaRPr lang="en-AU" dirty="0"/>
          </a:p>
        </p:txBody>
      </p:sp>
      <p:sp>
        <p:nvSpPr>
          <p:cNvPr id="3" name="Text Placeholder 2">
            <a:extLst>
              <a:ext uri="{FF2B5EF4-FFF2-40B4-BE49-F238E27FC236}">
                <a16:creationId xmlns:a16="http://schemas.microsoft.com/office/drawing/2014/main" id="{6F8F1532-3F20-1C0C-4FBE-395633281BD3}"/>
              </a:ext>
            </a:extLst>
          </p:cNvPr>
          <p:cNvSpPr>
            <a:spLocks noGrp="1"/>
          </p:cNvSpPr>
          <p:nvPr>
            <p:ph type="body" idx="1"/>
          </p:nvPr>
        </p:nvSpPr>
        <p:spPr/>
        <p:txBody>
          <a:bodyPr/>
          <a:lstStyle/>
          <a:p>
            <a:r>
              <a:rPr lang="en-AU" dirty="0"/>
              <a:t>PERSONAL RECOVERY	</a:t>
            </a:r>
          </a:p>
        </p:txBody>
      </p:sp>
      <p:sp>
        <p:nvSpPr>
          <p:cNvPr id="4" name="Content Placeholder 3">
            <a:extLst>
              <a:ext uri="{FF2B5EF4-FFF2-40B4-BE49-F238E27FC236}">
                <a16:creationId xmlns:a16="http://schemas.microsoft.com/office/drawing/2014/main" id="{184D79A2-A642-6412-39C5-7B78D67B84F7}"/>
              </a:ext>
            </a:extLst>
          </p:cNvPr>
          <p:cNvSpPr>
            <a:spLocks noGrp="1"/>
          </p:cNvSpPr>
          <p:nvPr>
            <p:ph sz="half" idx="2"/>
          </p:nvPr>
        </p:nvSpPr>
        <p:spPr/>
        <p:txBody>
          <a:bodyPr>
            <a:normAutofit fontScale="85000" lnSpcReduction="20000"/>
          </a:bodyPr>
          <a:lstStyle/>
          <a:p>
            <a:r>
              <a:rPr lang="en-GB" dirty="0"/>
              <a:t>Self-determination a basic human </a:t>
            </a:r>
          </a:p>
          <a:p>
            <a:r>
              <a:rPr lang="en-GB" dirty="0"/>
              <a:t>Rights respected</a:t>
            </a:r>
          </a:p>
          <a:p>
            <a:r>
              <a:rPr lang="en-GB" dirty="0"/>
              <a:t>Active participation and empowerment is valued </a:t>
            </a:r>
          </a:p>
          <a:p>
            <a:r>
              <a:rPr lang="en-GB" dirty="0"/>
              <a:t>Collaborative relationships, lived and learnt expertise </a:t>
            </a:r>
          </a:p>
          <a:p>
            <a:r>
              <a:rPr lang="en-GB" dirty="0"/>
              <a:t>Respect-based language</a:t>
            </a:r>
          </a:p>
          <a:p>
            <a:r>
              <a:rPr lang="en-GB" dirty="0"/>
              <a:t>Capitalise on strengths and life experiences </a:t>
            </a:r>
          </a:p>
          <a:p>
            <a:r>
              <a:rPr lang="en-GB" dirty="0"/>
              <a:t>Achieving broad-based life goals</a:t>
            </a:r>
            <a:endParaRPr lang="en-AU" dirty="0"/>
          </a:p>
        </p:txBody>
      </p:sp>
      <p:sp>
        <p:nvSpPr>
          <p:cNvPr id="5" name="Text Placeholder 4">
            <a:extLst>
              <a:ext uri="{FF2B5EF4-FFF2-40B4-BE49-F238E27FC236}">
                <a16:creationId xmlns:a16="http://schemas.microsoft.com/office/drawing/2014/main" id="{4791C754-CB49-21B5-78FE-C3CEFED36F9D}"/>
              </a:ext>
            </a:extLst>
          </p:cNvPr>
          <p:cNvSpPr>
            <a:spLocks noGrp="1"/>
          </p:cNvSpPr>
          <p:nvPr>
            <p:ph type="body" sz="quarter" idx="3"/>
          </p:nvPr>
        </p:nvSpPr>
        <p:spPr/>
        <p:txBody>
          <a:bodyPr/>
          <a:lstStyle/>
          <a:p>
            <a:r>
              <a:rPr lang="en-AU" dirty="0"/>
              <a:t>CLINICAL RECOVERY</a:t>
            </a:r>
          </a:p>
        </p:txBody>
      </p:sp>
      <p:sp>
        <p:nvSpPr>
          <p:cNvPr id="6" name="Content Placeholder 5">
            <a:extLst>
              <a:ext uri="{FF2B5EF4-FFF2-40B4-BE49-F238E27FC236}">
                <a16:creationId xmlns:a16="http://schemas.microsoft.com/office/drawing/2014/main" id="{26DF2301-90EB-0EDB-C5A3-C760FC6306F9}"/>
              </a:ext>
            </a:extLst>
          </p:cNvPr>
          <p:cNvSpPr>
            <a:spLocks noGrp="1"/>
          </p:cNvSpPr>
          <p:nvPr>
            <p:ph sz="quarter" idx="4"/>
          </p:nvPr>
        </p:nvSpPr>
        <p:spPr/>
        <p:txBody>
          <a:bodyPr>
            <a:normAutofit fontScale="85000" lnSpcReduction="20000"/>
          </a:bodyPr>
          <a:lstStyle/>
          <a:p>
            <a:r>
              <a:rPr lang="en-GB" dirty="0"/>
              <a:t>Clinical stability then self determination </a:t>
            </a:r>
          </a:p>
          <a:p>
            <a:r>
              <a:rPr lang="en-GB" dirty="0"/>
              <a:t>Compliance with treatments and plans is valued </a:t>
            </a:r>
          </a:p>
          <a:p>
            <a:r>
              <a:rPr lang="en-GB" dirty="0"/>
              <a:t>Mostly one-directional professional led </a:t>
            </a:r>
          </a:p>
          <a:p>
            <a:r>
              <a:rPr lang="en-GB" dirty="0"/>
              <a:t>Jargon and labels </a:t>
            </a:r>
          </a:p>
          <a:p>
            <a:r>
              <a:rPr lang="en-GB" dirty="0"/>
              <a:t>Symptoms, disabilities, deficits focus of treatment </a:t>
            </a:r>
          </a:p>
          <a:p>
            <a:r>
              <a:rPr lang="en-GB" dirty="0"/>
              <a:t>Narrow goals of illness management</a:t>
            </a:r>
            <a:endParaRPr lang="en-AU" dirty="0"/>
          </a:p>
        </p:txBody>
      </p:sp>
    </p:spTree>
    <p:extLst>
      <p:ext uri="{BB962C8B-B14F-4D97-AF65-F5344CB8AC3E}">
        <p14:creationId xmlns:p14="http://schemas.microsoft.com/office/powerpoint/2010/main" val="2522057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B0787-170D-5E14-4817-8E701EC37AE6}"/>
              </a:ext>
            </a:extLst>
          </p:cNvPr>
          <p:cNvSpPr>
            <a:spLocks noGrp="1"/>
          </p:cNvSpPr>
          <p:nvPr>
            <p:ph type="title"/>
          </p:nvPr>
        </p:nvSpPr>
        <p:spPr/>
        <p:txBody>
          <a:bodyPr/>
          <a:lstStyle/>
          <a:p>
            <a:r>
              <a:rPr lang="en-AU" dirty="0"/>
              <a:t>Key principles</a:t>
            </a:r>
          </a:p>
        </p:txBody>
      </p:sp>
      <p:pic>
        <p:nvPicPr>
          <p:cNvPr id="4" name="Picture 3">
            <a:extLst>
              <a:ext uri="{FF2B5EF4-FFF2-40B4-BE49-F238E27FC236}">
                <a16:creationId xmlns:a16="http://schemas.microsoft.com/office/drawing/2014/main" id="{DB4E471A-310D-4281-B95A-E3F3524DAEDF}"/>
              </a:ext>
            </a:extLst>
          </p:cNvPr>
          <p:cNvPicPr>
            <a:picLocks noChangeAspect="1"/>
          </p:cNvPicPr>
          <p:nvPr/>
        </p:nvPicPr>
        <p:blipFill>
          <a:blip r:embed="rId2"/>
          <a:stretch>
            <a:fillRect/>
          </a:stretch>
        </p:blipFill>
        <p:spPr>
          <a:xfrm>
            <a:off x="1729149" y="1447045"/>
            <a:ext cx="7544853" cy="5410955"/>
          </a:xfrm>
          <a:prstGeom prst="rect">
            <a:avLst/>
          </a:prstGeom>
        </p:spPr>
      </p:pic>
    </p:spTree>
    <p:extLst>
      <p:ext uri="{BB962C8B-B14F-4D97-AF65-F5344CB8AC3E}">
        <p14:creationId xmlns:p14="http://schemas.microsoft.com/office/powerpoint/2010/main" val="911887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D0392E-1D20-0FDC-25BF-3D031DA32D81}"/>
              </a:ext>
            </a:extLst>
          </p:cNvPr>
          <p:cNvSpPr>
            <a:spLocks noGrp="1"/>
          </p:cNvSpPr>
          <p:nvPr>
            <p:ph type="title"/>
          </p:nvPr>
        </p:nvSpPr>
        <p:spPr>
          <a:xfrm>
            <a:off x="838200" y="365125"/>
            <a:ext cx="10515600" cy="1325563"/>
          </a:xfrm>
        </p:spPr>
        <p:txBody>
          <a:bodyPr>
            <a:normAutofit/>
          </a:bodyPr>
          <a:lstStyle/>
          <a:p>
            <a:r>
              <a:rPr lang="en-AU" sz="5400"/>
              <a:t>Recovery Oriented Language </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82E52ED-E996-A962-C24D-2683A04AE383}"/>
              </a:ext>
            </a:extLst>
          </p:cNvPr>
          <p:cNvSpPr>
            <a:spLocks noGrp="1"/>
          </p:cNvSpPr>
          <p:nvPr>
            <p:ph idx="1"/>
          </p:nvPr>
        </p:nvSpPr>
        <p:spPr>
          <a:xfrm>
            <a:off x="838200" y="1929384"/>
            <a:ext cx="10515600" cy="4251960"/>
          </a:xfrm>
        </p:spPr>
        <p:txBody>
          <a:bodyPr>
            <a:normAutofit/>
          </a:bodyPr>
          <a:lstStyle/>
          <a:p>
            <a:r>
              <a:rPr lang="en-AU" sz="2200">
                <a:hlinkClick r:id="rId2"/>
              </a:rPr>
              <a:t>Recovery-Oriented-Language-Guide-3rd-edition.pdf</a:t>
            </a:r>
            <a:endParaRPr lang="en-GB" sz="2200"/>
          </a:p>
          <a:p>
            <a:r>
              <a:rPr lang="en-GB" sz="2200"/>
              <a:t>Focus on NOT using language of deficit</a:t>
            </a:r>
          </a:p>
          <a:p>
            <a:r>
              <a:rPr lang="en-GB" sz="2200"/>
              <a:t>Person rather than diagnosis </a:t>
            </a:r>
          </a:p>
          <a:p>
            <a:pPr lvl="1"/>
            <a:r>
              <a:rPr lang="en-GB" sz="2200"/>
              <a:t>E.g., not ’he is mentally ill’ or ‘a schizophrenic’ </a:t>
            </a:r>
          </a:p>
          <a:p>
            <a:pPr lvl="1"/>
            <a:r>
              <a:rPr lang="en-GB" sz="2200"/>
              <a:t>He is a person with lived experience of mental distress </a:t>
            </a:r>
          </a:p>
          <a:p>
            <a:pPr lvl="1"/>
            <a:r>
              <a:rPr lang="en-GB" sz="2200"/>
              <a:t>He is a person who has been diagnosed with schizophrenia </a:t>
            </a:r>
          </a:p>
          <a:p>
            <a:pPr lvl="1"/>
            <a:r>
              <a:rPr lang="en-GB" sz="2200"/>
              <a:t>But persons preferences really matter </a:t>
            </a:r>
          </a:p>
          <a:p>
            <a:r>
              <a:rPr lang="en-GB" sz="2200"/>
              <a:t>Communicates a sense of hope, strengths, respect </a:t>
            </a:r>
          </a:p>
          <a:p>
            <a:pPr lvl="1"/>
            <a:r>
              <a:rPr lang="en-GB" sz="2200"/>
              <a:t>E.g. not condescending, patronizing, or negative </a:t>
            </a:r>
          </a:p>
          <a:p>
            <a:pPr lvl="1"/>
            <a:r>
              <a:rPr lang="en-GB" sz="2200"/>
              <a:t>Not ‘they suffer from’ or ‘they are a victim of’ </a:t>
            </a:r>
          </a:p>
          <a:p>
            <a:pPr lvl="1"/>
            <a:r>
              <a:rPr lang="en-GB" sz="2200"/>
              <a:t>But ‘they have lived or living experience of’</a:t>
            </a:r>
            <a:endParaRPr lang="en-AU" sz="2200"/>
          </a:p>
        </p:txBody>
      </p:sp>
    </p:spTree>
    <p:extLst>
      <p:ext uri="{BB962C8B-B14F-4D97-AF65-F5344CB8AC3E}">
        <p14:creationId xmlns:p14="http://schemas.microsoft.com/office/powerpoint/2010/main" val="3370962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1C8EEB-8BED-C177-AFC3-6F4BDFD1970D}"/>
              </a:ext>
            </a:extLst>
          </p:cNvPr>
          <p:cNvSpPr>
            <a:spLocks noGrp="1"/>
          </p:cNvSpPr>
          <p:nvPr>
            <p:ph type="title"/>
          </p:nvPr>
        </p:nvSpPr>
        <p:spPr>
          <a:xfrm>
            <a:off x="838200" y="365125"/>
            <a:ext cx="10515600" cy="1325563"/>
          </a:xfrm>
        </p:spPr>
        <p:txBody>
          <a:bodyPr>
            <a:normAutofit/>
          </a:bodyPr>
          <a:lstStyle/>
          <a:p>
            <a:r>
              <a:rPr lang="en-GB" sz="5400"/>
              <a:t>Other language considerations</a:t>
            </a:r>
            <a:endParaRPr lang="en-AU"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AC58334-FF13-63AA-90A7-06903D2E70FF}"/>
              </a:ext>
            </a:extLst>
          </p:cNvPr>
          <p:cNvSpPr>
            <a:spLocks noGrp="1"/>
          </p:cNvSpPr>
          <p:nvPr>
            <p:ph idx="1"/>
          </p:nvPr>
        </p:nvSpPr>
        <p:spPr>
          <a:xfrm>
            <a:off x="838200" y="1929384"/>
            <a:ext cx="10515600" cy="4251960"/>
          </a:xfrm>
        </p:spPr>
        <p:txBody>
          <a:bodyPr>
            <a:normAutofit/>
          </a:bodyPr>
          <a:lstStyle/>
          <a:p>
            <a:r>
              <a:rPr lang="en-GB" sz="1700"/>
              <a:t>Words such as ‘mad’ ‘crazy’ have been reclaimed by people with lived experience </a:t>
            </a:r>
          </a:p>
          <a:p>
            <a:r>
              <a:rPr lang="en-GB" sz="1700"/>
              <a:t>People talk of ‘mad pride’ etc. </a:t>
            </a:r>
          </a:p>
          <a:p>
            <a:r>
              <a:rPr lang="en-GB" sz="1700"/>
              <a:t>However: </a:t>
            </a:r>
          </a:p>
          <a:p>
            <a:pPr lvl="1"/>
            <a:r>
              <a:rPr lang="en-GB" sz="1700"/>
              <a:t>People may take offence at these terms </a:t>
            </a:r>
          </a:p>
          <a:p>
            <a:pPr lvl="1"/>
            <a:r>
              <a:rPr lang="en-GB" sz="1700"/>
              <a:t>Issue of overuse of terms such as crazy, psychotic, mad to describe negative things, people, or events </a:t>
            </a:r>
          </a:p>
          <a:p>
            <a:pPr lvl="1"/>
            <a:r>
              <a:rPr lang="en-GB" sz="1700"/>
              <a:t>What do we mean when we say this?  </a:t>
            </a:r>
          </a:p>
          <a:p>
            <a:r>
              <a:rPr lang="en-GB" sz="1700"/>
              <a:t>Consider changing your language to other words e.g. </a:t>
            </a:r>
          </a:p>
          <a:p>
            <a:pPr lvl="1"/>
            <a:r>
              <a:rPr lang="en-GB" sz="1700"/>
              <a:t>I had a ‘wild day’ or a ‘chaotic day’ not a ‘mad’ day or ‘crazy’ day </a:t>
            </a:r>
          </a:p>
          <a:p>
            <a:r>
              <a:rPr lang="en-GB" sz="1700"/>
              <a:t>Why?</a:t>
            </a:r>
          </a:p>
          <a:p>
            <a:pPr lvl="1"/>
            <a:r>
              <a:rPr lang="en-GB" sz="1700"/>
              <a:t>Language matters, conveys negativity about mental distress </a:t>
            </a:r>
          </a:p>
          <a:p>
            <a:pPr lvl="1"/>
            <a:r>
              <a:rPr lang="en-GB" sz="1700"/>
              <a:t>When you work with people with lived experience, they may be sensitive to negative connotations</a:t>
            </a:r>
            <a:endParaRPr lang="en-AU" sz="1700"/>
          </a:p>
        </p:txBody>
      </p:sp>
    </p:spTree>
    <p:extLst>
      <p:ext uri="{BB962C8B-B14F-4D97-AF65-F5344CB8AC3E}">
        <p14:creationId xmlns:p14="http://schemas.microsoft.com/office/powerpoint/2010/main" val="4093730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0F70CA-4BEC-3BB4-6140-6AF2BF52CF00}"/>
              </a:ext>
            </a:extLst>
          </p:cNvPr>
          <p:cNvSpPr>
            <a:spLocks noGrp="1"/>
          </p:cNvSpPr>
          <p:nvPr>
            <p:ph type="title"/>
          </p:nvPr>
        </p:nvSpPr>
        <p:spPr>
          <a:xfrm>
            <a:off x="838200" y="365125"/>
            <a:ext cx="10515600" cy="1325563"/>
          </a:xfrm>
        </p:spPr>
        <p:txBody>
          <a:bodyPr>
            <a:normAutofit/>
          </a:bodyPr>
          <a:lstStyle/>
          <a:p>
            <a:r>
              <a:rPr lang="en-GB" sz="5400" dirty="0"/>
              <a:t>What is recovery-oriented practice? </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D8483B3-CC9C-7CAE-7CFE-E74FA1F48B19}"/>
              </a:ext>
            </a:extLst>
          </p:cNvPr>
          <p:cNvSpPr>
            <a:spLocks noGrp="1"/>
          </p:cNvSpPr>
          <p:nvPr>
            <p:ph idx="1"/>
          </p:nvPr>
        </p:nvSpPr>
        <p:spPr>
          <a:xfrm>
            <a:off x="838200" y="1929384"/>
            <a:ext cx="10515600" cy="4251960"/>
          </a:xfrm>
        </p:spPr>
        <p:txBody>
          <a:bodyPr>
            <a:normAutofit/>
          </a:bodyPr>
          <a:lstStyle/>
          <a:p>
            <a:r>
              <a:rPr lang="en-GB" sz="900" dirty="0"/>
              <a:t>Recognise uniqueness of the individual </a:t>
            </a:r>
          </a:p>
          <a:p>
            <a:pPr lvl="1"/>
            <a:r>
              <a:rPr lang="en-GB" sz="900" dirty="0"/>
              <a:t>Trust expertise of the person (people can be experts by lived experience of distress, and everyone is an expert about themselves) </a:t>
            </a:r>
          </a:p>
          <a:p>
            <a:pPr lvl="1"/>
            <a:r>
              <a:rPr lang="en-GB" sz="900" dirty="0"/>
              <a:t>Focus on person not on diagnosis </a:t>
            </a:r>
          </a:p>
          <a:p>
            <a:r>
              <a:rPr lang="en-GB" sz="900" dirty="0"/>
              <a:t>Hope in possibility of recovery (recovery as defined by the person)</a:t>
            </a:r>
          </a:p>
          <a:p>
            <a:r>
              <a:rPr lang="en-GB" sz="900" dirty="0"/>
              <a:t>Recognising strengths of the person </a:t>
            </a:r>
          </a:p>
          <a:p>
            <a:pPr lvl="1"/>
            <a:r>
              <a:rPr lang="en-GB" sz="900" dirty="0"/>
              <a:t>If you meet them, likely they are already started their recovery journey </a:t>
            </a:r>
          </a:p>
          <a:p>
            <a:r>
              <a:rPr lang="en-GB" sz="900" dirty="0"/>
              <a:t>Recognizing need for connection and meaning, need to explore identity and have power in their care process </a:t>
            </a:r>
          </a:p>
          <a:p>
            <a:r>
              <a:rPr lang="en-GB" sz="900" dirty="0"/>
              <a:t>Recognizing social genesis of distress </a:t>
            </a:r>
          </a:p>
          <a:p>
            <a:r>
              <a:rPr lang="en-GB" sz="900" dirty="0"/>
              <a:t>Recognizing and responding to trauma</a:t>
            </a:r>
          </a:p>
          <a:p>
            <a:r>
              <a:rPr lang="en-GB" sz="900" dirty="0"/>
              <a:t>Supporting real choice and power </a:t>
            </a:r>
          </a:p>
          <a:p>
            <a:r>
              <a:rPr lang="en-GB" sz="900" dirty="0"/>
              <a:t>Walk alongside, not directive </a:t>
            </a:r>
          </a:p>
          <a:p>
            <a:pPr lvl="1"/>
            <a:r>
              <a:rPr lang="en-GB" sz="900" dirty="0"/>
              <a:t>Dignity and respect for rights and self-determination </a:t>
            </a:r>
          </a:p>
          <a:p>
            <a:pPr lvl="1"/>
            <a:r>
              <a:rPr lang="en-GB" sz="900" dirty="0"/>
              <a:t>Acknowledge diversity of experience, culture and values</a:t>
            </a:r>
          </a:p>
          <a:p>
            <a:r>
              <a:rPr lang="en-GB" sz="900" dirty="0"/>
              <a:t>Partnership and communication </a:t>
            </a:r>
          </a:p>
          <a:p>
            <a:pPr lvl="1"/>
            <a:r>
              <a:rPr lang="en-GB" sz="900" dirty="0"/>
              <a:t>Prioritising relational connection with people with lived experience </a:t>
            </a:r>
          </a:p>
          <a:p>
            <a:pPr lvl="1"/>
            <a:r>
              <a:rPr lang="en-GB" sz="900" dirty="0"/>
              <a:t>Connect and collaborate with the person </a:t>
            </a:r>
          </a:p>
          <a:p>
            <a:pPr lvl="1"/>
            <a:r>
              <a:rPr lang="en-GB" sz="900" dirty="0"/>
              <a:t>Empathy and action to support the person </a:t>
            </a:r>
          </a:p>
          <a:p>
            <a:pPr lvl="1"/>
            <a:r>
              <a:rPr lang="en-GB" sz="900" dirty="0"/>
              <a:t>Person first, recovery-oriented language</a:t>
            </a:r>
            <a:endParaRPr lang="en-AU" sz="900" dirty="0"/>
          </a:p>
        </p:txBody>
      </p:sp>
    </p:spTree>
    <p:extLst>
      <p:ext uri="{BB962C8B-B14F-4D97-AF65-F5344CB8AC3E}">
        <p14:creationId xmlns:p14="http://schemas.microsoft.com/office/powerpoint/2010/main" val="1728531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79E7C5-7849-86CD-CDAD-29F18810543A}"/>
              </a:ext>
            </a:extLst>
          </p:cNvPr>
          <p:cNvSpPr>
            <a:spLocks noGrp="1"/>
          </p:cNvSpPr>
          <p:nvPr>
            <p:ph type="title"/>
          </p:nvPr>
        </p:nvSpPr>
        <p:spPr>
          <a:xfrm>
            <a:off x="838200" y="365125"/>
            <a:ext cx="10515600" cy="1325563"/>
          </a:xfrm>
        </p:spPr>
        <p:txBody>
          <a:bodyPr>
            <a:normAutofit/>
          </a:bodyPr>
          <a:lstStyle/>
          <a:p>
            <a:r>
              <a:rPr lang="en-AU" sz="5400"/>
              <a:t>Ongoing tensions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4C68696-C61E-33FD-CF46-5434CF16D266}"/>
              </a:ext>
            </a:extLst>
          </p:cNvPr>
          <p:cNvSpPr>
            <a:spLocks noGrp="1"/>
          </p:cNvSpPr>
          <p:nvPr>
            <p:ph idx="1"/>
          </p:nvPr>
        </p:nvSpPr>
        <p:spPr>
          <a:xfrm>
            <a:off x="838200" y="1929384"/>
            <a:ext cx="10515600" cy="4251960"/>
          </a:xfrm>
        </p:spPr>
        <p:txBody>
          <a:bodyPr>
            <a:normAutofit/>
          </a:bodyPr>
          <a:lstStyle/>
          <a:p>
            <a:r>
              <a:rPr lang="en-GB" sz="2200"/>
              <a:t>Personal recovery often confused with clinical recovery</a:t>
            </a:r>
          </a:p>
          <a:p>
            <a:r>
              <a:rPr lang="en-GB" sz="2200"/>
              <a:t>Emphasis on psychiatric treatment rather than personal recovery</a:t>
            </a:r>
          </a:p>
          <a:p>
            <a:r>
              <a:rPr lang="en-GB" sz="2200"/>
              <a:t>“Recovery in the Bin” C/S/X movement</a:t>
            </a:r>
          </a:p>
          <a:p>
            <a:pPr lvl="1"/>
            <a:r>
              <a:rPr lang="en-GB" sz="2200"/>
              <a:t>“fed up with the way co-opted ‘recovery’ is being used to discipline and control those who are trying to find a place in the world, to live as they wish, trying to deal with the very real mental distress they encounter on a daily basis. We believe in human rights and social justice!” </a:t>
            </a:r>
          </a:p>
          <a:p>
            <a:r>
              <a:rPr lang="en-GB" sz="2200"/>
              <a:t>Idea of right to be ‘unrecovered’ (e.g. not clinically recovered)</a:t>
            </a:r>
          </a:p>
          <a:p>
            <a:r>
              <a:rPr lang="en-GB" sz="2200"/>
              <a:t>Link distress to social structure, rather than individual responsibility for recovery </a:t>
            </a:r>
          </a:p>
          <a:p>
            <a:pPr lvl="1"/>
            <a:r>
              <a:rPr lang="en-GB" sz="2200"/>
              <a:t>How can you recover in a world that is ‘crazy making’</a:t>
            </a:r>
            <a:endParaRPr lang="en-AU" sz="2200"/>
          </a:p>
        </p:txBody>
      </p:sp>
    </p:spTree>
    <p:extLst>
      <p:ext uri="{BB962C8B-B14F-4D97-AF65-F5344CB8AC3E}">
        <p14:creationId xmlns:p14="http://schemas.microsoft.com/office/powerpoint/2010/main" val="4472796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9285E9-3B53-FF16-97A6-F8D009B0401F}"/>
              </a:ext>
            </a:extLst>
          </p:cNvPr>
          <p:cNvSpPr>
            <a:spLocks noGrp="1"/>
          </p:cNvSpPr>
          <p:nvPr>
            <p:ph type="title"/>
          </p:nvPr>
        </p:nvSpPr>
        <p:spPr>
          <a:xfrm>
            <a:off x="838200" y="365125"/>
            <a:ext cx="10515600" cy="1325563"/>
          </a:xfrm>
        </p:spPr>
        <p:txBody>
          <a:bodyPr>
            <a:normAutofit/>
          </a:bodyPr>
          <a:lstStyle/>
          <a:p>
            <a:r>
              <a:rPr lang="en-AU" sz="5400"/>
              <a:t>Useful Resources </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D895B2C-1A2F-063E-3798-D58A65F3E2BA}"/>
              </a:ext>
            </a:extLst>
          </p:cNvPr>
          <p:cNvSpPr>
            <a:spLocks noGrp="1"/>
          </p:cNvSpPr>
          <p:nvPr>
            <p:ph idx="1"/>
          </p:nvPr>
        </p:nvSpPr>
        <p:spPr>
          <a:xfrm>
            <a:off x="838200" y="1929384"/>
            <a:ext cx="10515600" cy="4251960"/>
          </a:xfrm>
        </p:spPr>
        <p:txBody>
          <a:bodyPr>
            <a:normAutofit/>
          </a:bodyPr>
          <a:lstStyle/>
          <a:p>
            <a:r>
              <a:rPr lang="en-GB" sz="1900" dirty="0">
                <a:hlinkClick r:id="rId2"/>
              </a:rPr>
              <a:t>100 Ways to support recovery 2nd edition.pdf</a:t>
            </a:r>
            <a:r>
              <a:rPr lang="en-GB" sz="1900" dirty="0"/>
              <a:t> (targeted towards mental health professionals but can be useful if you skim past something you can easily do)</a:t>
            </a:r>
          </a:p>
          <a:p>
            <a:pPr lvl="1"/>
            <a:r>
              <a:rPr lang="en-GB" sz="1900" dirty="0"/>
              <a:t>Section 2 has a nice section on the Peer Support Workers that Cyndi mentioned (page 11-14)</a:t>
            </a:r>
          </a:p>
          <a:p>
            <a:pPr lvl="2"/>
            <a:r>
              <a:rPr lang="en-GB" sz="1900" dirty="0"/>
              <a:t>One important thing it did not highlight is having someone go through similar experiences and come out personally recovered not only is inspirational, motivational, but makes the consumer more easily to engage in mental health services (and the peer worker is an excellent resource to guide them through this)</a:t>
            </a:r>
          </a:p>
          <a:p>
            <a:r>
              <a:rPr lang="en-GB" sz="1900" dirty="0">
                <a:hlinkClick r:id="rId3"/>
              </a:rPr>
              <a:t>Resources - Mental Health Coordinating Council</a:t>
            </a:r>
            <a:endParaRPr lang="en-GB" sz="1900" dirty="0"/>
          </a:p>
          <a:p>
            <a:pPr lvl="1"/>
            <a:r>
              <a:rPr lang="en-GB" sz="1900" dirty="0"/>
              <a:t>Of note: </a:t>
            </a:r>
          </a:p>
          <a:p>
            <a:pPr lvl="2"/>
            <a:r>
              <a:rPr lang="en-GB" sz="1900" dirty="0"/>
              <a:t>Already mentioned recovery-oriented language </a:t>
            </a:r>
          </a:p>
          <a:p>
            <a:pPr lvl="2"/>
            <a:r>
              <a:rPr lang="en-GB" sz="1900" dirty="0"/>
              <a:t>TICPOT – an organisational auditing tool to make your workplace recovery-oriented </a:t>
            </a:r>
          </a:p>
          <a:p>
            <a:pPr lvl="2"/>
            <a:r>
              <a:rPr lang="en-GB" sz="1900" dirty="0"/>
              <a:t>Trauma-informed language tips (simple version of the above)</a:t>
            </a:r>
          </a:p>
          <a:p>
            <a:pPr lvl="2"/>
            <a:r>
              <a:rPr lang="en-GB" sz="1900" dirty="0"/>
              <a:t>Trauma-informed leadership for organisation change: A framework </a:t>
            </a:r>
          </a:p>
        </p:txBody>
      </p:sp>
    </p:spTree>
    <p:extLst>
      <p:ext uri="{BB962C8B-B14F-4D97-AF65-F5344CB8AC3E}">
        <p14:creationId xmlns:p14="http://schemas.microsoft.com/office/powerpoint/2010/main" val="27030913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43</TotalTime>
  <Words>1032</Words>
  <Application>Microsoft Office PowerPoint</Application>
  <PresentationFormat>Widescreen</PresentationFormat>
  <Paragraphs>99</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Trauma informed care (the recovery approach to mental health)</vt:lpstr>
      <vt:lpstr>A bit of history</vt:lpstr>
      <vt:lpstr>What is the recovery approach / trauma informed care?</vt:lpstr>
      <vt:lpstr>The CHIME framework for personal recovery </vt:lpstr>
      <vt:lpstr>Overall difference: Personal (recovery approach) vs clinical (biomedical approach) recovery</vt:lpstr>
      <vt:lpstr>Key principles</vt:lpstr>
      <vt:lpstr>Recovery Oriented Language </vt:lpstr>
      <vt:lpstr>Other language considerations</vt:lpstr>
      <vt:lpstr>What is recovery-oriented practice? </vt:lpstr>
      <vt:lpstr>Ongoing tensions</vt:lpstr>
      <vt:lpstr>Useful Resources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Reuben Burman</dc:creator>
  <cp:lastModifiedBy>Reuben Burman</cp:lastModifiedBy>
  <cp:revision>2</cp:revision>
  <dcterms:created xsi:type="dcterms:W3CDTF">2026-05-13T09:11:27Z</dcterms:created>
  <dcterms:modified xsi:type="dcterms:W3CDTF">2026-05-13T10:05:05Z</dcterms:modified>
</cp:coreProperties>
</file>
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26B6-FD54-12F7-9C51-674B57AFF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BCF5A-C2C5-9529-055E-720CDCC45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EF136-3B85-46F0-3C5E-8AFC2C79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B6390-B7BF-9003-702E-FA2A01E3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B68A-1DAE-7A8C-8930-86EF73CF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87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8550-F32D-CDAA-1C7F-F27A2E2B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5FD9-6F7F-8C9B-533F-F5105EA1A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DF94A-A82E-4E12-5A71-EA337476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92972-A9EC-EDC9-07FE-E1DA02E0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71D6A-0485-DCEF-F0D9-5EF7C203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96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8E95-2D62-D7C0-8F8F-6DCCCC35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C9B18-B167-A0DC-9B6E-8A2A398DC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DEB39-5B52-19D4-3E21-6EAA800A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7267A-71A1-3F09-3A30-02814F6F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B052-F2EA-25A3-661D-9A1551BB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56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84F6-19B9-738C-CE69-8F235303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7F25-0923-A569-E70E-6A18313CA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49AAD-C57C-3051-E04C-A428C832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6F501-3E7E-134F-D493-08FB6FF1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2D17F-B9C7-DE51-15DE-75FBBCBC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F5711-5C32-662D-92D2-951FD5C5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519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7A89A-D278-2E65-31C5-48E49A8C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0DB10-401A-D986-2415-38EFF6590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1C989-4FDC-31C2-E168-F540ABAE6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403FF-18E8-9FFC-C6FA-AF5653F43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EBE5C-D003-FDDD-D064-EB054DC95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AC938-8E6D-0277-7E3A-70404430B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2A3F6-2F87-7D0A-FCDB-6052553F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CC3798-A043-FDD1-C37C-E8DDB036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917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651A-D56F-7C56-1B5B-4EDECB84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43618-4A5F-2633-420C-8BDF3187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FAFE7-73C1-4FD0-9B26-BD880B08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FCE15-70C1-A78E-D927-EFBA9293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20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F59446-0DB5-5EB3-22E8-AF44923C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1DC45-EF82-169A-2747-DFD468C9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4C12A-3B82-CE50-08BE-268A6E7B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092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29A4-7A05-DE78-9335-37A16984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6580-8627-ADEE-E812-E3D745EE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39F70-9C3E-49B6-59B7-88235D1F1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E75FC-8CAE-4582-B0F5-189B3858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225F9-FFF2-E8DA-4A29-77D7D8C1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EDAFA-8BC3-6FE8-6CE0-AEE9BD19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52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FA64-F430-2AB9-4C6E-39CF1F31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B341A-E267-6CC8-5A3E-01213CC66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C2B7E-6ADB-BF13-469D-A8F1A0613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B6E56-B61C-ACD6-9F68-6A0B4824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1B688-4A4D-8844-866A-29E1CDCC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7DF17-EA81-CB49-EA40-B90BFF4E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414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0746-65C5-A6F4-1113-5BBCCAFA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D3C35-A143-90F1-DCE1-75662E4C9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3506-9E0A-85AF-9EE0-7C9885A2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AF85D-5AA1-39CC-0843-DC40ED8B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D6353-A74D-5554-67DE-998D514F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30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27239-D3B5-9A97-AA36-45F90AA5B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4ED3C-10C8-9961-C6E2-002C7CFB6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E265B-6A50-C7CB-BA3D-B9842121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A01D8-D0EC-D088-AA05-4B79C1DB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3238-9F4D-F55A-C059-E0FA5A13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786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3E8C1-EE27-4A0E-32CB-FD7282BE9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DD118-5DAD-2C00-5F4B-F7E1F59FA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425C-7531-20D2-2CE5-876E7E2F4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65F49-0B14-4213-AF1E-869EAB45B269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91DAC-4F47-63D8-BC9B-FDD7C1A0B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2F44-EE82-A399-EB7F-0C9391C23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2B089-26B8-49B6-B087-857553F230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11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ope tied on old wooden railing">
            <a:extLst>
              <a:ext uri="{FF2B5EF4-FFF2-40B4-BE49-F238E27FC236}">
                <a16:creationId xmlns:a16="http://schemas.microsoft.com/office/drawing/2014/main" id="{E9FBD9BB-C9CE-7E5A-F98B-74C0921B4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73" b="6557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F9218-C66E-49A0-C05A-683E6CDA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sz="5200">
                <a:solidFill>
                  <a:srgbClr val="FFFFFF"/>
                </a:solidFill>
              </a:rPr>
              <a:t>BOUNDARY SETTING</a:t>
            </a:r>
          </a:p>
        </p:txBody>
      </p:sp>
    </p:spTree>
    <p:extLst>
      <p:ext uri="{BB962C8B-B14F-4D97-AF65-F5344CB8AC3E}">
        <p14:creationId xmlns:p14="http://schemas.microsoft.com/office/powerpoint/2010/main" val="3993603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F6A2F-E264-ABAB-292B-D7EFDC09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Why boundaries matter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077A-D128-CC01-A69C-E2A0C49EE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Supporting students != unlimited availability </a:t>
            </a:r>
          </a:p>
          <a:p>
            <a:r>
              <a:rPr lang="en-GB" dirty="0">
                <a:effectLst/>
              </a:rPr>
              <a:t>Without boundaries: </a:t>
            </a:r>
          </a:p>
          <a:p>
            <a:pPr lvl="1"/>
            <a:r>
              <a:rPr lang="en-GB" dirty="0">
                <a:effectLst/>
              </a:rPr>
              <a:t>Staff burn out Support becomes inconsistent </a:t>
            </a:r>
          </a:p>
          <a:p>
            <a:pPr lvl="1"/>
            <a:r>
              <a:rPr lang="en-GB" dirty="0">
                <a:effectLst/>
              </a:rPr>
              <a:t>Risk increases for both staff and students </a:t>
            </a:r>
          </a:p>
          <a:p>
            <a:r>
              <a:rPr lang="en-GB" dirty="0">
                <a:effectLst/>
              </a:rPr>
              <a:t>Boundaries protect both you and the student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412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5350F-2855-C4AA-42CE-BA915CA3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Your Role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5063A-ED34-9623-0646-7147CB1AA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You are: </a:t>
            </a:r>
          </a:p>
          <a:p>
            <a:pPr lvl="1"/>
            <a:r>
              <a:rPr lang="en-GB" dirty="0">
                <a:effectLst/>
              </a:rPr>
              <a:t>Supportive </a:t>
            </a:r>
          </a:p>
          <a:p>
            <a:pPr lvl="1"/>
            <a:r>
              <a:rPr lang="en-GB" dirty="0">
                <a:effectLst/>
              </a:rPr>
              <a:t>Observant </a:t>
            </a:r>
          </a:p>
          <a:p>
            <a:pPr lvl="1"/>
            <a:r>
              <a:rPr lang="en-GB" dirty="0">
                <a:effectLst/>
              </a:rPr>
              <a:t>A pathway to help </a:t>
            </a:r>
          </a:p>
          <a:p>
            <a:r>
              <a:rPr lang="en-GB" dirty="0">
                <a:effectLst/>
              </a:rPr>
              <a:t>You are NOT: </a:t>
            </a:r>
          </a:p>
          <a:p>
            <a:pPr lvl="1"/>
            <a:r>
              <a:rPr lang="en-GB" dirty="0">
                <a:effectLst/>
              </a:rPr>
              <a:t>A therapist </a:t>
            </a:r>
          </a:p>
          <a:p>
            <a:pPr lvl="1"/>
            <a:r>
              <a:rPr lang="en-GB" dirty="0">
                <a:effectLst/>
              </a:rPr>
              <a:t>Always available </a:t>
            </a:r>
          </a:p>
          <a:p>
            <a:pPr lvl="1"/>
            <a:r>
              <a:rPr lang="en-GB" dirty="0">
                <a:effectLst/>
              </a:rPr>
              <a:t>Responsible for solving everything </a:t>
            </a:r>
          </a:p>
          <a:p>
            <a:r>
              <a:rPr lang="en-GB" dirty="0">
                <a:effectLst/>
              </a:rPr>
              <a:t>Support != responsibility for outcomes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403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AA6FD-90AA-6E7D-07C4-35602691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Distress changes behaviour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D234-24C2-A83B-4708-219A936F4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1700" dirty="0">
                <a:effectLst/>
              </a:rPr>
              <a:t>When highly distressed, people may: </a:t>
            </a:r>
          </a:p>
          <a:p>
            <a:pPr lvl="1"/>
            <a:r>
              <a:rPr lang="en-GB" sz="1700" dirty="0">
                <a:effectLst/>
              </a:rPr>
              <a:t>Become more urgent or demanding </a:t>
            </a:r>
          </a:p>
          <a:p>
            <a:pPr lvl="1"/>
            <a:r>
              <a:rPr lang="en-GB" sz="1700" dirty="0">
                <a:effectLst/>
              </a:rPr>
              <a:t>Struggle with perspective-taking </a:t>
            </a:r>
          </a:p>
          <a:p>
            <a:pPr lvl="1"/>
            <a:r>
              <a:rPr lang="en-GB" sz="1700" dirty="0">
                <a:effectLst/>
              </a:rPr>
              <a:t>Seek immediate relief from discomfort </a:t>
            </a:r>
          </a:p>
          <a:p>
            <a:pPr lvl="1"/>
            <a:r>
              <a:rPr lang="en-GB" sz="1700" dirty="0">
                <a:effectLst/>
              </a:rPr>
              <a:t>Push for reassurance, time, or exceptions </a:t>
            </a:r>
          </a:p>
          <a:p>
            <a:r>
              <a:rPr lang="en-GB" sz="1700" dirty="0">
                <a:effectLst/>
              </a:rPr>
              <a:t>Some behaviours can feel manipulative, even when they are driven by distress, not intent</a:t>
            </a:r>
          </a:p>
          <a:p>
            <a:pPr lvl="1"/>
            <a:r>
              <a:rPr lang="en-GB" sz="1700" dirty="0">
                <a:effectLst/>
              </a:rPr>
              <a:t>You must be aware of how much you are willing to be manipulated versus where the line is and set that boundary</a:t>
            </a:r>
          </a:p>
          <a:p>
            <a:pPr lvl="1"/>
            <a:r>
              <a:rPr lang="en-GB" sz="1700" dirty="0">
                <a:effectLst/>
              </a:rPr>
              <a:t>This may be a mental health setting only thing as I try not to turn on mental health brain when not in a clinical setting. </a:t>
            </a:r>
          </a:p>
          <a:p>
            <a:r>
              <a:rPr lang="en-GB" sz="1700" dirty="0">
                <a:effectLst/>
              </a:rPr>
              <a:t>This is not intentional harm, it is distress-driven behaviour</a:t>
            </a:r>
            <a:endParaRPr lang="en-AU" sz="1700" dirty="0"/>
          </a:p>
        </p:txBody>
      </p:sp>
    </p:spTree>
    <p:extLst>
      <p:ext uri="{BB962C8B-B14F-4D97-AF65-F5344CB8AC3E}">
        <p14:creationId xmlns:p14="http://schemas.microsoft.com/office/powerpoint/2010/main" val="36297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A5D97-FB95-C7BF-D38F-BB08224D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When support becomes unbalanced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8988B-36D9-D813-1453-203BAE8E8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In high distress, students may: </a:t>
            </a:r>
          </a:p>
          <a:p>
            <a:pPr lvl="1"/>
            <a:r>
              <a:rPr lang="en-GB" dirty="0">
                <a:effectLst/>
              </a:rPr>
              <a:t>Repeatedly seek reassurance </a:t>
            </a:r>
          </a:p>
          <a:p>
            <a:pPr lvl="1"/>
            <a:r>
              <a:rPr lang="en-GB" dirty="0">
                <a:effectLst/>
              </a:rPr>
              <a:t>Push boundaries (time, rules, expectations) </a:t>
            </a:r>
          </a:p>
          <a:p>
            <a:pPr lvl="1"/>
            <a:r>
              <a:rPr lang="en-GB" dirty="0">
                <a:effectLst/>
              </a:rPr>
              <a:t>Rely heavily on one staff member </a:t>
            </a:r>
          </a:p>
          <a:p>
            <a:r>
              <a:rPr lang="en-GB" dirty="0">
                <a:effectLst/>
              </a:rPr>
              <a:t>This can feel like: </a:t>
            </a:r>
          </a:p>
          <a:p>
            <a:pPr lvl="1"/>
            <a:r>
              <a:rPr lang="en-GB" dirty="0">
                <a:effectLst/>
              </a:rPr>
              <a:t>Pressure </a:t>
            </a:r>
          </a:p>
          <a:p>
            <a:pPr lvl="1"/>
            <a:r>
              <a:rPr lang="en-GB" dirty="0">
                <a:effectLst/>
              </a:rPr>
              <a:t>Guilt </a:t>
            </a:r>
          </a:p>
          <a:p>
            <a:pPr lvl="1"/>
            <a:r>
              <a:rPr lang="en-GB" dirty="0">
                <a:effectLst/>
              </a:rPr>
              <a:t>Obligation to “do more” </a:t>
            </a:r>
          </a:p>
          <a:p>
            <a:r>
              <a:rPr lang="en-GB" dirty="0">
                <a:effectLst/>
              </a:rPr>
              <a:t>Your role is to notice this, not absorb it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875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13CC5-6060-C2B0-C14A-BCBADA45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effectLst/>
              </a:rPr>
              <a:t>Signs your boundaries are slipping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2663-C803-C88C-B178-7E7F746CA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You feel: </a:t>
            </a:r>
          </a:p>
          <a:p>
            <a:pPr lvl="1"/>
            <a:r>
              <a:rPr lang="en-GB" dirty="0">
                <a:effectLst/>
              </a:rPr>
              <a:t>Responsible for the student’s wellbeing </a:t>
            </a:r>
          </a:p>
          <a:p>
            <a:pPr lvl="1"/>
            <a:r>
              <a:rPr lang="en-GB" dirty="0">
                <a:effectLst/>
              </a:rPr>
              <a:t>Guilty saying no </a:t>
            </a:r>
          </a:p>
          <a:p>
            <a:pPr lvl="1"/>
            <a:r>
              <a:rPr lang="en-GB" dirty="0">
                <a:effectLst/>
              </a:rPr>
              <a:t>Like you’re the “only one helping” </a:t>
            </a:r>
          </a:p>
          <a:p>
            <a:r>
              <a:rPr lang="en-GB" dirty="0">
                <a:effectLst/>
              </a:rPr>
              <a:t>You are: </a:t>
            </a:r>
          </a:p>
          <a:p>
            <a:pPr lvl="1"/>
            <a:r>
              <a:rPr lang="en-GB" dirty="0">
                <a:effectLst/>
              </a:rPr>
              <a:t>Spending disproportionate time on one student </a:t>
            </a:r>
          </a:p>
          <a:p>
            <a:pPr lvl="1"/>
            <a:r>
              <a:rPr lang="en-GB" dirty="0">
                <a:effectLst/>
              </a:rPr>
              <a:t>Being contacted outside expected contexts </a:t>
            </a:r>
          </a:p>
          <a:p>
            <a:r>
              <a:rPr lang="en-GB" dirty="0">
                <a:effectLst/>
              </a:rPr>
              <a:t>Bending or breaking normal rules </a:t>
            </a:r>
          </a:p>
          <a:p>
            <a:r>
              <a:rPr lang="en-GB" dirty="0">
                <a:effectLst/>
              </a:rPr>
              <a:t>If it feels heavy, personal, or urgent, check your boundaries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097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30369-56A9-3846-0E4E-CD389ED4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How to set boundaries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A3D5-E1A9-FEBD-1980-8E61735E4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Be clear and consistent </a:t>
            </a:r>
          </a:p>
          <a:p>
            <a:r>
              <a:rPr lang="en-GB" dirty="0">
                <a:effectLst/>
              </a:rPr>
              <a:t>Keep focus on support pathways </a:t>
            </a:r>
          </a:p>
          <a:p>
            <a:r>
              <a:rPr lang="en-GB" dirty="0">
                <a:effectLst/>
              </a:rPr>
              <a:t>Use neutral, calm language </a:t>
            </a:r>
          </a:p>
          <a:p>
            <a:r>
              <a:rPr lang="en-GB" dirty="0">
                <a:effectLst/>
              </a:rPr>
              <a:t>Examples: </a:t>
            </a:r>
          </a:p>
          <a:p>
            <a:pPr lvl="1"/>
            <a:r>
              <a:rPr lang="en-GB" dirty="0">
                <a:effectLst/>
              </a:rPr>
              <a:t>“I’m here to support you, but I can’t stay after hours, let’s connect you with…” </a:t>
            </a:r>
          </a:p>
          <a:p>
            <a:pPr lvl="1"/>
            <a:r>
              <a:rPr lang="en-GB" dirty="0">
                <a:effectLst/>
              </a:rPr>
              <a:t>“I can’t make that exception, but I can help you find support” </a:t>
            </a:r>
          </a:p>
          <a:p>
            <a:pPr lvl="1"/>
            <a:r>
              <a:rPr lang="en-GB" dirty="0">
                <a:effectLst/>
              </a:rPr>
              <a:t>“That sounds really tough, this might be best handled by…”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572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B417B-FE20-E97B-52EA-F1975281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Y</a:t>
            </a:r>
            <a:r>
              <a:rPr lang="en-GB">
                <a:solidFill>
                  <a:srgbClr val="FFFFFF"/>
                </a:solidFill>
                <a:effectLst/>
              </a:rPr>
              <a:t>ou don’t need to absorb distress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7717-381E-84ED-9523-5EA58716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You can: </a:t>
            </a:r>
          </a:p>
          <a:p>
            <a:pPr lvl="1"/>
            <a:r>
              <a:rPr lang="en-GB" dirty="0">
                <a:effectLst/>
              </a:rPr>
              <a:t>Be empathetic </a:t>
            </a:r>
          </a:p>
          <a:p>
            <a:pPr lvl="1"/>
            <a:r>
              <a:rPr lang="en-GB" dirty="0">
                <a:effectLst/>
              </a:rPr>
              <a:t>Be supportive </a:t>
            </a:r>
          </a:p>
          <a:p>
            <a:pPr lvl="1"/>
            <a:r>
              <a:rPr lang="en-GB" dirty="0">
                <a:effectLst/>
              </a:rPr>
              <a:t>Maintain boundaries </a:t>
            </a:r>
          </a:p>
          <a:p>
            <a:r>
              <a:rPr lang="en-GB" dirty="0">
                <a:effectLst/>
              </a:rPr>
              <a:t>At the same time:</a:t>
            </a:r>
          </a:p>
          <a:p>
            <a:pPr lvl="1"/>
            <a:r>
              <a:rPr lang="en-GB" dirty="0">
                <a:effectLst/>
              </a:rPr>
              <a:t>Empathy without boundaries = burnout </a:t>
            </a:r>
          </a:p>
          <a:p>
            <a:pPr lvl="1"/>
            <a:r>
              <a:rPr lang="en-GB" dirty="0">
                <a:effectLst/>
              </a:rPr>
              <a:t>Boundaries without empathy = disengagement </a:t>
            </a:r>
          </a:p>
          <a:p>
            <a:pPr lvl="1"/>
            <a:r>
              <a:rPr lang="en-GB" dirty="0">
                <a:effectLst/>
              </a:rPr>
              <a:t>You need both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7270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C85A0-B0AF-C625-0C53-35F72BDC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When to step back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1403-FFE1-7E27-3552-7DD67B553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If a student: </a:t>
            </a:r>
          </a:p>
          <a:p>
            <a:pPr lvl="1"/>
            <a:r>
              <a:rPr lang="en-GB" dirty="0">
                <a:effectLst/>
              </a:rPr>
              <a:t>Needs ongoing emotional support </a:t>
            </a:r>
          </a:p>
          <a:p>
            <a:pPr lvl="1"/>
            <a:r>
              <a:rPr lang="en-GB" dirty="0">
                <a:effectLst/>
              </a:rPr>
              <a:t>Keeps returning to you only </a:t>
            </a:r>
          </a:p>
          <a:p>
            <a:pPr lvl="1"/>
            <a:r>
              <a:rPr lang="en-GB" dirty="0">
                <a:effectLst/>
              </a:rPr>
              <a:t>Requires more than you can provide </a:t>
            </a:r>
          </a:p>
          <a:p>
            <a:r>
              <a:rPr lang="en-GB" dirty="0">
                <a:effectLst/>
              </a:rPr>
              <a:t>Your role becomes: </a:t>
            </a:r>
          </a:p>
          <a:p>
            <a:pPr lvl="1"/>
            <a:r>
              <a:rPr lang="en-GB" dirty="0">
                <a:effectLst/>
              </a:rPr>
              <a:t>Connect, don’t contain </a:t>
            </a:r>
          </a:p>
          <a:p>
            <a:pPr lvl="2"/>
            <a:r>
              <a:rPr lang="en-GB" dirty="0">
                <a:effectLst/>
              </a:rPr>
              <a:t>Refer </a:t>
            </a:r>
          </a:p>
          <a:p>
            <a:pPr lvl="2"/>
            <a:r>
              <a:rPr lang="en-GB" dirty="0"/>
              <a:t>E</a:t>
            </a:r>
            <a:r>
              <a:rPr lang="en-GB" dirty="0">
                <a:effectLst/>
              </a:rPr>
              <a:t>scalate </a:t>
            </a:r>
          </a:p>
          <a:p>
            <a:pPr lvl="2"/>
            <a:r>
              <a:rPr lang="en-GB" dirty="0"/>
              <a:t>I</a:t>
            </a:r>
            <a:r>
              <a:rPr lang="en-GB" dirty="0">
                <a:effectLst/>
              </a:rPr>
              <a:t>nvolve others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105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ED9AC-A478-B57A-D7B2-A850ABC8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Know your limits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3A22-4B8A-2FD6-FDC8-49F811EB9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>
                <a:effectLst/>
              </a:rPr>
              <a:t>You decide: </a:t>
            </a:r>
          </a:p>
          <a:p>
            <a:pPr lvl="1"/>
            <a:r>
              <a:rPr lang="en-GB" dirty="0">
                <a:effectLst/>
              </a:rPr>
              <a:t>How much time you give </a:t>
            </a:r>
          </a:p>
          <a:p>
            <a:pPr lvl="1"/>
            <a:r>
              <a:rPr lang="en-GB" dirty="0">
                <a:effectLst/>
              </a:rPr>
              <a:t>What you can take on </a:t>
            </a:r>
          </a:p>
          <a:p>
            <a:pPr lvl="1"/>
            <a:r>
              <a:rPr lang="en-GB" dirty="0">
                <a:effectLst/>
              </a:rPr>
              <a:t>When to escalate </a:t>
            </a:r>
          </a:p>
          <a:p>
            <a:r>
              <a:rPr lang="en-GB" dirty="0">
                <a:effectLst/>
              </a:rPr>
              <a:t>You are not expected to carry distress, only respond to it safely</a:t>
            </a:r>
          </a:p>
          <a:p>
            <a:r>
              <a:rPr lang="en-GB" dirty="0">
                <a:effectLst/>
              </a:rPr>
              <a:t>If you don’t define your boundaries, they will be defined for you, often in moments of pressure.</a:t>
            </a:r>
          </a:p>
          <a:p>
            <a:pPr lvl="1"/>
            <a:r>
              <a:rPr lang="en-GB" dirty="0"/>
              <a:t>This will almost certainly be unhelpful for both you and the student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781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42525-A18A-A82C-8EEA-3BA1599D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effectLst/>
              </a:rPr>
              <a:t>Boundaries to set (for yourself) in 1 slide!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BE66B-5784-6DF3-6567-9F3FC56C2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900">
                <a:effectLst/>
              </a:rPr>
              <a:t>Time boundaries </a:t>
            </a:r>
          </a:p>
          <a:p>
            <a:pPr lvl="1"/>
            <a:r>
              <a:rPr lang="en-GB" sz="900">
                <a:effectLst/>
              </a:rPr>
              <a:t>When am I available to students? </a:t>
            </a:r>
          </a:p>
          <a:p>
            <a:pPr lvl="1"/>
            <a:r>
              <a:rPr lang="en-GB" sz="900">
                <a:effectLst/>
              </a:rPr>
              <a:t>When do I stop (end of class / office hours)? </a:t>
            </a:r>
          </a:p>
          <a:p>
            <a:pPr lvl="1"/>
            <a:r>
              <a:rPr lang="en-GB" sz="900">
                <a:effectLst/>
              </a:rPr>
              <a:t>Do I respond outside working hours? </a:t>
            </a:r>
          </a:p>
          <a:p>
            <a:r>
              <a:rPr lang="en-GB" sz="900">
                <a:effectLst/>
              </a:rPr>
              <a:t>Role boundaries </a:t>
            </a:r>
          </a:p>
          <a:p>
            <a:pPr lvl="1"/>
            <a:r>
              <a:rPr lang="en-GB" sz="900">
                <a:effectLst/>
              </a:rPr>
              <a:t>What is my role vs support services? </a:t>
            </a:r>
          </a:p>
          <a:p>
            <a:pPr lvl="1"/>
            <a:r>
              <a:rPr lang="en-GB" sz="900">
                <a:effectLst/>
              </a:rPr>
              <a:t>What am I not responsible for? </a:t>
            </a:r>
          </a:p>
          <a:p>
            <a:pPr lvl="1"/>
            <a:r>
              <a:rPr lang="en-GB" sz="900">
                <a:effectLst/>
              </a:rPr>
              <a:t>When do I escalate instead of continue? </a:t>
            </a:r>
          </a:p>
          <a:p>
            <a:r>
              <a:rPr lang="en-GB" sz="900">
                <a:effectLst/>
              </a:rPr>
              <a:t>Emotional boundaries </a:t>
            </a:r>
          </a:p>
          <a:p>
            <a:pPr lvl="1"/>
            <a:r>
              <a:rPr lang="en-GB" sz="900">
                <a:effectLst/>
              </a:rPr>
              <a:t>I can care without taking it on </a:t>
            </a:r>
          </a:p>
          <a:p>
            <a:pPr lvl="1"/>
            <a:r>
              <a:rPr lang="en-GB" sz="900">
                <a:effectLst/>
              </a:rPr>
              <a:t>I am not responsible for their outcome </a:t>
            </a:r>
          </a:p>
          <a:p>
            <a:pPr lvl="1"/>
            <a:r>
              <a:rPr lang="en-GB" sz="900">
                <a:effectLst/>
              </a:rPr>
              <a:t>I do not need to “fix” the situation </a:t>
            </a:r>
          </a:p>
          <a:p>
            <a:r>
              <a:rPr lang="en-GB" sz="900">
                <a:effectLst/>
              </a:rPr>
              <a:t>Capacity boundaries </a:t>
            </a:r>
          </a:p>
          <a:p>
            <a:pPr lvl="1"/>
            <a:r>
              <a:rPr lang="en-GB" sz="900">
                <a:effectLst/>
              </a:rPr>
              <a:t>How much time/energy can I give one student? </a:t>
            </a:r>
          </a:p>
          <a:p>
            <a:pPr lvl="1"/>
            <a:r>
              <a:rPr lang="en-GB" sz="900">
                <a:effectLst/>
              </a:rPr>
              <a:t>Am I over-investing compared to others? </a:t>
            </a:r>
          </a:p>
          <a:p>
            <a:pPr lvl="1"/>
            <a:r>
              <a:rPr lang="en-GB" sz="900">
                <a:effectLst/>
              </a:rPr>
              <a:t>Is this beyond my skill level? </a:t>
            </a:r>
          </a:p>
          <a:p>
            <a:r>
              <a:rPr lang="en-GB" sz="900">
                <a:effectLst/>
              </a:rPr>
              <a:t>Consistency boundaries </a:t>
            </a:r>
          </a:p>
          <a:p>
            <a:pPr lvl="1"/>
            <a:r>
              <a:rPr lang="en-GB" sz="900">
                <a:effectLst/>
              </a:rPr>
              <a:t>Am I treating this student differently from others? </a:t>
            </a:r>
          </a:p>
          <a:p>
            <a:pPr lvl="1"/>
            <a:r>
              <a:rPr lang="en-GB" sz="900">
                <a:effectLst/>
              </a:rPr>
              <a:t>Am I bending rules I wouldn’t normally bend?</a:t>
            </a:r>
          </a:p>
          <a:p>
            <a:r>
              <a:rPr lang="en-GB" sz="900" b="1">
                <a:effectLst/>
              </a:rPr>
              <a:t>Support within your role/skills/duties of care/capacity, escalate beyond it</a:t>
            </a:r>
          </a:p>
          <a:p>
            <a:r>
              <a:rPr lang="en-GB" sz="900" b="1">
                <a:effectLst/>
              </a:rPr>
              <a:t>If you don’t set boundaries early, they will be tested under pressure (which unless highly trained/experienced will become messy)</a:t>
            </a:r>
          </a:p>
        </p:txBody>
      </p:sp>
    </p:spTree>
    <p:extLst>
      <p:ext uri="{BB962C8B-B14F-4D97-AF65-F5344CB8AC3E}">
        <p14:creationId xmlns:p14="http://schemas.microsoft.com/office/powerpoint/2010/main" val="129701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F9313-D1B9-00AE-A62C-9E2936AE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effectLst/>
              </a:rPr>
              <a:t>Professional boundaries (while on the job)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CC2E6C5-FBF2-67E0-245C-4EACA3BF5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1100">
                <a:effectLst/>
              </a:rPr>
              <a:t>Clarity of relationship </a:t>
            </a:r>
          </a:p>
          <a:p>
            <a:pPr lvl="1"/>
            <a:r>
              <a:rPr lang="en-GB" sz="1100">
                <a:effectLst/>
              </a:rPr>
              <a:t>You are a tutor/support staff, not a friend (while on the job) or therapist </a:t>
            </a:r>
          </a:p>
          <a:p>
            <a:pPr lvl="1"/>
            <a:r>
              <a:rPr lang="en-GB" sz="1100">
                <a:effectLst/>
              </a:rPr>
              <a:t>Keep interactions appropriate to context (teaching/support) </a:t>
            </a:r>
          </a:p>
          <a:p>
            <a:r>
              <a:rPr lang="en-GB" sz="1100">
                <a:effectLst/>
              </a:rPr>
              <a:t>Consistency and fairness </a:t>
            </a:r>
          </a:p>
          <a:p>
            <a:pPr lvl="1"/>
            <a:r>
              <a:rPr lang="en-GB" sz="1100">
                <a:effectLst/>
              </a:rPr>
              <a:t>Treat students consistently </a:t>
            </a:r>
          </a:p>
          <a:p>
            <a:pPr lvl="1"/>
            <a:r>
              <a:rPr lang="en-GB" sz="1100">
                <a:effectLst/>
              </a:rPr>
              <a:t>Avoid “special agreements” outside normal processes </a:t>
            </a:r>
          </a:p>
          <a:p>
            <a:pPr lvl="1"/>
            <a:r>
              <a:rPr lang="en-GB" sz="1100">
                <a:effectLst/>
              </a:rPr>
              <a:t>Do not blur roles for one student </a:t>
            </a:r>
          </a:p>
          <a:p>
            <a:r>
              <a:rPr lang="en-GB" sz="1100">
                <a:effectLst/>
              </a:rPr>
              <a:t>Appropriate contact </a:t>
            </a:r>
          </a:p>
          <a:p>
            <a:pPr lvl="1"/>
            <a:r>
              <a:rPr lang="en-GB" sz="1100">
                <a:effectLst/>
              </a:rPr>
              <a:t>Use official channels (email, course platforms) </a:t>
            </a:r>
          </a:p>
          <a:p>
            <a:pPr lvl="1"/>
            <a:r>
              <a:rPr lang="en-GB" sz="1100">
                <a:effectLst/>
              </a:rPr>
              <a:t>Maintain professional tone and timing </a:t>
            </a:r>
          </a:p>
          <a:p>
            <a:r>
              <a:rPr lang="en-GB" sz="1100">
                <a:effectLst/>
              </a:rPr>
              <a:t>Emotional boundaries </a:t>
            </a:r>
          </a:p>
          <a:p>
            <a:pPr lvl="1"/>
            <a:r>
              <a:rPr lang="en-GB" sz="1100">
                <a:effectLst/>
              </a:rPr>
              <a:t>Be empathetic, but not personally involved </a:t>
            </a:r>
          </a:p>
          <a:p>
            <a:pPr lvl="1"/>
            <a:r>
              <a:rPr lang="en-GB" sz="1100">
                <a:effectLst/>
              </a:rPr>
              <a:t>Avoid becoming the student’s primary support person </a:t>
            </a:r>
          </a:p>
          <a:p>
            <a:r>
              <a:rPr lang="en-GB" sz="1100">
                <a:effectLst/>
              </a:rPr>
              <a:t>Power and influence </a:t>
            </a:r>
          </a:p>
          <a:p>
            <a:pPr lvl="1"/>
            <a:r>
              <a:rPr lang="en-GB" sz="1100">
                <a:effectLst/>
              </a:rPr>
              <a:t>Staff hold authority, be mindful of this imbalance </a:t>
            </a:r>
          </a:p>
          <a:p>
            <a:pPr lvl="1"/>
            <a:r>
              <a:rPr lang="en-GB" sz="1100">
                <a:effectLst/>
              </a:rPr>
              <a:t>Avoid situations that could be: </a:t>
            </a:r>
          </a:p>
          <a:p>
            <a:pPr lvl="2"/>
            <a:r>
              <a:rPr lang="en-GB" sz="1100">
                <a:effectLst/>
              </a:rPr>
              <a:t>Misinterpreted </a:t>
            </a:r>
          </a:p>
          <a:p>
            <a:pPr lvl="2"/>
            <a:r>
              <a:rPr lang="en-GB" sz="1100">
                <a:effectLst/>
              </a:rPr>
              <a:t>Dependent </a:t>
            </a:r>
          </a:p>
          <a:p>
            <a:pPr lvl="2"/>
            <a:r>
              <a:rPr lang="en-GB" sz="1100">
                <a:effectLst/>
              </a:rPr>
              <a:t>Exclusive</a:t>
            </a:r>
            <a:endParaRPr lang="en-AU" sz="1100"/>
          </a:p>
        </p:txBody>
      </p:sp>
    </p:spTree>
    <p:extLst>
      <p:ext uri="{BB962C8B-B14F-4D97-AF65-F5344CB8AC3E}">
        <p14:creationId xmlns:p14="http://schemas.microsoft.com/office/powerpoint/2010/main" val="162062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765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BOUNDARY SETTING</vt:lpstr>
      <vt:lpstr>Why boundaries matter</vt:lpstr>
      <vt:lpstr>Your Role </vt:lpstr>
      <vt:lpstr>Distress changes behaviour</vt:lpstr>
      <vt:lpstr>When support becomes unbalanced</vt:lpstr>
      <vt:lpstr>Signs your boundaries are slipping</vt:lpstr>
      <vt:lpstr>How to set boundaries</vt:lpstr>
      <vt:lpstr>You don’t need to absorb distress</vt:lpstr>
      <vt:lpstr>When to step back</vt:lpstr>
      <vt:lpstr>Know your limits</vt:lpstr>
      <vt:lpstr>Boundaries to set (for yourself) in 1 slide!</vt:lpstr>
      <vt:lpstr>Professional boundaries (while on the job)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Reuben Burman</dc:creator>
  <cp:lastModifiedBy>Reuben Burman</cp:lastModifiedBy>
  <cp:revision>1</cp:revision>
  <dcterms:created xsi:type="dcterms:W3CDTF">2026-05-13T11:30:35Z</dcterms:created>
  <dcterms:modified xsi:type="dcterms:W3CDTF">2026-05-13T12:03:19Z</dcterms:modified>
</cp:coreProperties>
</file>